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saying what this is: a working system, not a concept. The board on the table is live and publishing right now. Set expectation that they'll see it react to a real temperature change in a few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 — they already know the problem. The third point is the one to linger on: cost scales with sites, and that's what we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go deep on tech. The point of this slide is that it's a normal, well-understood architecture — nothing exotic, nothing fragile. If asked: MQTT, PostgreSQL, Grafana. All industry standard, all open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moment that sells it. Rehearse it.</a:t>
            </a:r>
          </a:p>
          <a:p/>
          <a:p>
            <a:r>
              <a:t>IMPORTANT: start the probe in chilled water, not room air. At room temperature it already reads ~73F, well above the 42.8F produce ceiling, so the dashboard would open in alarm.</a:t>
            </a:r>
          </a:p>
          <a:p/>
          <a:p>
            <a:r>
              <a:t>Hot tap water (~130F) is dramatic enough and safer for the probe than boiling.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middle one is the differentiator. Ask them: if a sensor dies tonight, how does your current system tell you? Many threshold-based systems simply don't — no data means no alert. That gap is where product gets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third column. With the incumbent, every new site is another $100/month forever. Here it's a configuration change with no marginal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 calibration answer ready — it's the likeliest objection. Auditors under FSMA/HACCP want traceability, not just 'we checked it'. One NIST-traceable reference gives you that documentation trail for a few hundred dollars once. Say it before they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THE EXAMPLE with Plymouth's actual site count before presenting. The real number is far more persuasive than a hypothetical.</a:t>
            </a:r>
          </a:p>
          <a:p/>
          <a:p>
            <a:r>
              <a:t>Hosting is a small cloud server running the whole stack. Storage is negligible — 20 sensors generate about 350 MB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they'll remember. Say the number out loud, then stop talking.</a:t>
            </a:r>
          </a:p>
          <a:p/>
          <a:p>
            <a:r>
              <a:t>Recalculate with real site counts. If Plymouth has more than four sites the number gets dramatically better, because their cost is per-site and ours isn't.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gasket-cable point matters — facilities teams worry about drilling into freezer walls. Flat probe cables designed to pass through door seals are standard practice and require no modification to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Including this slide builds credibility. A pitch with no acknowledged weaknesses reads as naive. Raising these before they do shows you've actually engineered it rather than demoed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asking for the pilot, not the contract. It's a small, low-risk yes — and running both systems side by side produces the evidence that makes the rest of the decision straightforward.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286000"/>
            <a:ext cx="128016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6232B"/>
                </a:solidFill>
                <a:latin typeface="Arial"/>
              </a:rPr>
              <a:t>Fleet Temperature
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B7C85"/>
                </a:solidFill>
                <a:latin typeface="Arial"/>
              </a:rPr>
              <a:t>A cold-chain monitoring system built in-house — real-time alerting, multi-site visibility, and a fraction of the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60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B4BA"/>
                </a:solidFill>
                <a:latin typeface="Arial"/>
              </a:rPr>
              <a:t>Prepared for Plymouth  ·  Prototype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32B"/>
                </a:solidFill>
                <a:latin typeface="Arial"/>
              </a:rPr>
              <a:t>A cold chain is only as good as its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4BA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10424160" cy="105156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42032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32B"/>
                </a:solidFill>
                <a:latin typeface="Arial"/>
              </a:rPr>
              <a:t>Product loss is silent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A freezer drifting out of range overnight is discovered the next morning — after the load is gone.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11880"/>
            <a:ext cx="10424160" cy="105156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76472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32B"/>
                </a:solidFill>
                <a:latin typeface="Arial"/>
              </a:rPr>
              <a:t>Gaps can't be explained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When data stops arriving, was it a dead sensor, a network dropout, or a disconnected probe? Most systems can't tell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846320"/>
            <a:ext cx="10424160" cy="105156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10912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32B"/>
                </a:solidFill>
                <a:latin typeface="Arial"/>
              </a:rPr>
              <a:t>The bill scales with 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49240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Every new location adds another subscription, another set of pre-calibrated sensors, another display.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32B"/>
                </a:solidFill>
                <a:latin typeface="Arial"/>
              </a:rPr>
              <a:t>Four jobs, cleanly separated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4BA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24912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Sensor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C85"/>
                </a:solidFill>
                <a:latin typeface="Arial"/>
              </a:rPr>
              <a:t>Probe in the freezer.
Reports temperature
and battery.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352044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8B4BA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51460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24912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Broker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520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C85"/>
                </a:solidFill>
                <a:latin typeface="Arial"/>
              </a:rPr>
              <a:t>Routes messages.
Authenticated,
decoupled.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5584" y="352044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8B4BA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1460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724912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C85"/>
                </a:solidFill>
                <a:latin typeface="Arial"/>
              </a:rPr>
              <a:t>Stores every
plausible reading.
Permanent record.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352044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8B4BA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251460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5875">
            <a:solidFill>
              <a:srgbClr val="B45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724912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4541F"/>
                </a:solidFill>
                <a:latin typeface="Arial"/>
              </a:rPr>
              <a:t>Dashboard
&amp;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52044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C85"/>
                </a:solidFill>
                <a:latin typeface="Arial"/>
              </a:rPr>
              <a:t>Judges what's wrong.
Notifies the right
team on Slack.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The sensor never decides what's an emergency. It reports; the system judges. That separation is what makes alerting reliable — and what lets one platform serve sites with completely different temperature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6232B"/>
                </a:solidFill>
                <a:latin typeface="Arial"/>
              </a:rPr>
              <a:t>Watch it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108960"/>
            <a:ext cx="566928" cy="566928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2783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12724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32B"/>
                </a:solidFill>
                <a:latin typeface="Arial"/>
              </a:rPr>
              <a:t>Probe sits in chilled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314553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Dashboard green. All sites nominal.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23360"/>
            <a:ext cx="566928" cy="566928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4223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4164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32B"/>
                </a:solidFill>
                <a:latin typeface="Arial"/>
              </a:rPr>
              <a:t>Move it to hot 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405993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Temperature crosses the limit within seconds. Panel turns red. Slack fires.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37760"/>
            <a:ext cx="566928" cy="566928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5663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95604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32B"/>
                </a:solidFill>
                <a:latin typeface="Arial"/>
              </a:rPr>
              <a:t>Unplug the probe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97433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System reports a sensor fault, then marks the unit offline — it knows the difference.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32B"/>
                </a:solidFill>
                <a:latin typeface="Arial"/>
              </a:rPr>
              <a:t>Three alerts, not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4BA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104241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6032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Temperature excursion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4436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Every unit judged against its own limits. Produce at 36–43°F and frozen goods at −9 to 0°F are both handled by one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104241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45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4541F"/>
                </a:solidFill>
                <a:latin typeface="Arial"/>
              </a:rPr>
              <a:t>Sensor offline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702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A dead sensor sends nothing — so a temperature rule can never fire. This catches the silence. It is the failure that actually loses product.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29200"/>
            <a:ext cx="104241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21208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7D5B"/>
                </a:solidFill>
                <a:latin typeface="Arial"/>
              </a:rPr>
              <a:t>Low battery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9612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Early warning before a unit goes dark, so it's replaced on a schedule rather than discovered after a loss.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06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232B"/>
                </a:solidFill>
                <a:latin typeface="Arial"/>
              </a:rPr>
              <a:t>Alerts route to the right team automatically — grouped by company and site, delivered to Slack wherever the manager 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32B"/>
                </a:solidFill>
                <a:latin typeface="Arial"/>
              </a:rPr>
              <a:t>One platform, every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4BA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6232B"/>
                </a:solidFill>
                <a:latin typeface="Arial"/>
              </a:rPr>
              <a:t>Each site sees only its own equipment. Management sees everything.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0896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Per-site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5"/>
                </a:solidFill>
                <a:latin typeface="Arial"/>
              </a:rPr>
              <a:t>A manager opens their site and sees their units — temperature, battery, last reading, current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10896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337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Fleet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79476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5"/>
                </a:solidFill>
                <a:latin typeface="Arial"/>
              </a:rPr>
              <a:t>One screen across every site and every company, filtered on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108960"/>
            <a:ext cx="3291840" cy="20116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337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Adding a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79476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5"/>
                </a:solidFill>
                <a:latin typeface="Arial"/>
              </a:rPr>
              <a:t>Register the devices. Dashboards and alerts pick it up automatically — no new subscription, no new licence.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32B"/>
                </a:solidFill>
                <a:latin typeface="Arial"/>
              </a:rPr>
              <a:t>Hardware, per monitoring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4BA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31720"/>
          <a:ext cx="104241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834640"/>
                <a:gridCol w="2926080"/>
                <a:gridCol w="1554480"/>
              </a:tblGrid>
              <a:tr h="5303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6232B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64592" marT="8229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B4541F"/>
                          </a:solidFill>
                          <a:latin typeface="Arial"/>
                        </a:rPr>
                        <a:t>SmartSense</a:t>
                      </a:r>
                    </a:p>
                  </a:txBody>
                  <a:tcPr marL="164592" marT="8229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E7C86"/>
                          </a:solidFill>
                          <a:latin typeface="Arial"/>
                        </a:rPr>
                        <a:t>This system</a:t>
                      </a:r>
                    </a:p>
                  </a:txBody>
                  <a:tcPr marL="164592" marT="8229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E7C8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64592" marT="82296" anchor="ctr">
                    <a:solidFill>
                      <a:srgbClr val="F4F7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232B"/>
                          </a:solidFill>
                          <a:latin typeface="Arial"/>
                        </a:rPr>
                        <a:t>Sensor</a:t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C85"/>
                          </a:solidFill>
                          <a:latin typeface="Arial"/>
                        </a:rPr>
                        <a:t>$125  pre-calibrated</a:t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C85"/>
                          </a:solidFill>
                          <a:latin typeface="Arial"/>
                        </a:rPr>
                        <a:t>$25  sensor + board</a:t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C85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232B"/>
                          </a:solidFill>
                          <a:latin typeface="Arial"/>
                        </a:rPr>
                        <a:t>Wireless unit + display</a:t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C85"/>
                          </a:solidFill>
                          <a:latin typeface="Arial"/>
                        </a:rPr>
                        <a:t>$245</a:t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C85"/>
                          </a:solidFill>
                          <a:latin typeface="Arial"/>
                        </a:rPr>
                        <a:t>$35  incl. display</a:t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C85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232B"/>
                          </a:solidFill>
                          <a:latin typeface="Arial"/>
                        </a:rPr>
                        <a:t>Enclosure</a:t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C85"/>
                          </a:solidFill>
                          <a:latin typeface="Arial"/>
                        </a:rPr>
                        <a:t>included</a:t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C85"/>
                          </a:solidFill>
                          <a:latin typeface="Arial"/>
                        </a:rPr>
                        <a:t>$10  3D printed, custom</a:t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B7C85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64592" marT="8229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6232B"/>
                          </a:solidFill>
                          <a:latin typeface="Arial"/>
                        </a:rPr>
                        <a:t>Per point</a:t>
                      </a:r>
                    </a:p>
                  </a:txBody>
                  <a:tcPr marL="164592" marT="8229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4541F"/>
                          </a:solidFill>
                          <a:latin typeface="Arial"/>
                        </a:rPr>
                        <a:t>$370</a:t>
                      </a:r>
                    </a:p>
                  </a:txBody>
                  <a:tcPr marL="164592" marT="8229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E7C86"/>
                          </a:solidFill>
                          <a:latin typeface="Arial"/>
                        </a:rPr>
                        <a:t>$70</a:t>
                      </a:r>
                    </a:p>
                  </a:txBody>
                  <a:tcPr marL="164592" marT="8229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E7D5B"/>
                          </a:solidFill>
                          <a:latin typeface="Arial"/>
                        </a:rPr>
                        <a:t>81% less</a:t>
                      </a:r>
                    </a:p>
                  </a:txBody>
                  <a:tcPr marL="164592" marT="8229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57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Calibration is done in-house against a single NIST-traceable reference thermometer — one purchase of roughly $350 covers the whole fleet, instead of $125 built into every sensor forever.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32B"/>
                </a:solidFill>
                <a:latin typeface="Arial"/>
              </a:rPr>
              <a:t>The recurring bill is where it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4BA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5029200" cy="24688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5875">
            <a:solidFill>
              <a:srgbClr val="B45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51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4541F"/>
                </a:solidFill>
                <a:latin typeface="Arial"/>
              </a:rPr>
              <a:t>SMARTSENSE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0896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6232B"/>
                </a:solidFill>
                <a:latin typeface="Arial"/>
              </a:rPr>
              <a:t>$100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6B7C85"/>
                </a:solidFill>
                <a:latin typeface="Arial"/>
              </a:rPr>
              <a:t>per month, per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605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5"/>
                </a:solidFill>
                <a:latin typeface="Arial"/>
              </a:rPr>
              <a:t>Every new location adds another subscription. Cost grows with the business.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377440"/>
            <a:ext cx="5029200" cy="24688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651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Arial"/>
              </a:rPr>
              <a:t>THIS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10896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16232B"/>
                </a:solidFill>
                <a:latin typeface="Arial"/>
              </a:rPr>
              <a:t>~$12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6B7C85"/>
                </a:solidFill>
                <a:latin typeface="Arial"/>
              </a:rPr>
              <a:t>per month, all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1605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C85"/>
                </a:solidFill>
                <a:latin typeface="Arial"/>
              </a:rPr>
              <a:t>Cloud server, database and dashboards. Slack alerting is free. Adding sites costs nothing.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32B"/>
                </a:solidFill>
                <a:latin typeface="Arial"/>
              </a:rPr>
              <a:t>[EXAMPLE — replace with real site count]  At four sites: $4,800/year becomes roughly $144/year.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EC8D0"/>
                </a:solidFill>
                <a:latin typeface="Arial"/>
              </a:rPr>
              <a:t>[EXAMPLE] FIVE-YEAR TOTAL COST OF OWNERSHIP  ·  4 SITES, 20 MONITORING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E58B52"/>
                </a:solidFill>
                <a:latin typeface="Arial"/>
              </a:rPr>
              <a:t>$31,400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0">
                <a:solidFill>
                  <a:srgbClr val="B9C6CC"/>
                </a:solidFill>
                <a:latin typeface="Arial"/>
              </a:rPr>
              <a:t>SmartSense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8698A0"/>
                </a:solidFill>
                <a:latin typeface="Arial"/>
              </a:rPr>
              <a:t>$7,400 hardware + $24,000 subscriptions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210312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7EC8D0"/>
                </a:solidFill>
                <a:latin typeface="Arial"/>
              </a:rPr>
              <a:t>$2,470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0">
                <a:solidFill>
                  <a:srgbClr val="B9C6CC"/>
                </a:solidFill>
                <a:latin typeface="Arial"/>
              </a:rPr>
              <a:t>This system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8698A0"/>
                </a:solidFill>
                <a:latin typeface="Arial"/>
              </a:rPr>
              <a:t>$1,400 hardware + $350 calibration reference + $720 hosting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709160"/>
            <a:ext cx="10424160" cy="12700"/>
          </a:xfrm>
          <a:prstGeom prst="rect">
            <a:avLst/>
          </a:prstGeom>
          <a:solidFill>
            <a:srgbClr val="2E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Roughly $29,000 saved — and the gap widens with every site added.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32B"/>
                </a:solidFill>
                <a:latin typeface="Arial"/>
              </a:rPr>
              <a:t>Two configurations, one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4BA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10424160" cy="17830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3288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Fixed sites — warehouse freezers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5351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Mains powered, mounted outside the unit. A flat gasket-safe probe cable passes through the door seal — no drilling, no compromise to the seal. Reports continuously over WiFi.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32B"/>
                </a:solidFill>
                <a:latin typeface="Arial"/>
              </a:rPr>
              <a:t>No batteries to manage. Lithium cells lose 20–40% of capacity at freezer temperatures, so mains is the correct choice wherever power exists.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43400"/>
            <a:ext cx="10424160" cy="17830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5875">
            <a:solidFill>
              <a:srgbClr val="B45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54456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4541F"/>
                </a:solidFill>
                <a:latin typeface="Arial"/>
              </a:rPr>
              <a:t>In transit — trailers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965192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Battery powered with scheduled wake-ups, reporting hourly over cellular. Same firmware, same platform — one setting differs.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6692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32B"/>
                </a:solidFill>
                <a:latin typeface="Arial"/>
              </a:rPr>
              <a:t>Months of battery life at an hourly reporting interval.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32B"/>
                </a:solidFill>
                <a:latin typeface="Arial"/>
              </a:rPr>
              <a:t>What we still need to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4BA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32B"/>
                </a:solidFill>
                <a:latin typeface="Arial"/>
              </a:rPr>
              <a:t>Sensor accuracy at freezer temperatures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6148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The current probe is rated ±0.5°C only above −10°C. For frozen goods we move to an RTD probe — ±0.15°C across the full range, roughly $8–15 per unit.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401568"/>
            <a:ext cx="10424160" cy="12700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7588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32B"/>
                </a:solidFill>
                <a:latin typeface="Arial"/>
              </a:rPr>
              <a:t>Calibration traceability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59936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In-house calibration against one NIST-traceable reference gives auditable documentation. One purchase, not a per-sensor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700016"/>
            <a:ext cx="10424160" cy="12700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7433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232B"/>
                </a:solidFill>
                <a:latin typeface="Arial"/>
              </a:rPr>
              <a:t>Security hardening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583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The prototype runs on a trusted network. Production adds encrypted transport and per-device credentials before any customer data is carried.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998464"/>
            <a:ext cx="10424160" cy="12700"/>
          </a:xfrm>
          <a:prstGeom prst="rect">
            <a:avLst/>
          </a:prstGeom>
          <a:solidFill>
            <a:srgbClr val="D8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943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86"/>
                </a:solidFill>
                <a:latin typeface="Arial"/>
              </a:rPr>
              <a:t>None of these are blockers. All are understood, costed, and scheduled.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82296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Arial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232B"/>
                </a:solidFill>
                <a:latin typeface="Arial"/>
              </a:rPr>
              <a:t>What it takes to go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093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B4BA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621792" cy="62179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621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44144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232B"/>
                </a:solidFill>
                <a:latin typeface="Arial"/>
              </a:rPr>
              <a:t>Pilot at one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46888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Install alongside the existing system and run both in parallel for 30 days. No risk, direct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74720"/>
            <a:ext cx="621792" cy="62179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621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9300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232B"/>
                </a:solidFill>
                <a:latin typeface="Arial"/>
              </a:rPr>
              <a:t>Validate and calibrate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52044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Calibrate the fleet against the reference thermometer and document the results for audit.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80"/>
            <a:ext cx="621792" cy="62179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621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4456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6232B"/>
                </a:solidFill>
                <a:latin typeface="Arial"/>
              </a:rPr>
              <a:t>Migrate site by 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57200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C85"/>
                </a:solidFill>
                <a:latin typeface="Arial"/>
              </a:rPr>
              <a:t>Each site moves when its pilot data is accepted. Subscriptions cancel as sites come across.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623560"/>
            <a:ext cx="10424160" cy="77724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81558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232B"/>
                </a:solidFill>
                <a:latin typeface="Arial"/>
              </a:rPr>
              <a:t>Running one site in parallel costs a few hundred dollars in hardware and proves the entire case with real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