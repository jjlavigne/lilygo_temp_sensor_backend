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object, not the slide. Pick up the board.</a:t>
            </a:r>
          </a:p>
          <a:p/>
          <a:p>
            <a:r>
              <a:t>'This has been running for six days. Everything you're about to see on screen is coming from it, or from twenty simulated units I built to prove it scales.'</a:t>
            </a:r>
          </a:p>
          <a:p/>
          <a:p>
            <a:r>
              <a:t>Don't explain the architecture yet. Get them looking at the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numbers, then move on. Don't read them out — let them read.</a:t>
            </a:r>
          </a:p>
          <a:p/>
          <a:p>
            <a:r>
              <a:t>The bottom line is the one that matters technically: separating 'report' from 'judge' is what lets one system serve customers with completely different temperature requirements. It's also why the alerting actually works.</a:t>
            </a:r>
          </a:p>
          <a:p/>
          <a:p>
            <a:r>
              <a:t>If asked what it's built on: nothing exotic. Postgres, MQTT, Grafana. No vendor lock-in, no proprietary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REHEARSE THIS. It's the whole pitch.</a:t>
            </a:r>
          </a:p>
          <a:p/>
          <a:p>
            <a:r>
              <a:t>Start the probe in CHILLED water, not room air. At room temperature it reads about 73F, which is already 30 degrees above the produce ceiling — the dashboard would open in alarm and the demo loses its arc.</a:t>
            </a:r>
          </a:p>
          <a:p/>
          <a:p>
            <a:r>
              <a:t>Hot tap water is around 130F. Plenty dramatic, and safer for the probe than boiling.</a:t>
            </a:r>
          </a:p>
          <a:p/>
          <a:p>
            <a:r>
              <a:t>The third beat is the one people remember. Most monitoring shows a gap and leaves you guessing. This says which failure it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middle row is the differentiator. Spend your time there.</a:t>
            </a:r>
          </a:p>
          <a:p/>
          <a:p>
            <a:r>
              <a:t>I don't know what SmartSense does or doesn't catch, so don't claim it. Ask the question instead — it's more disarming and it can't backfire. If they can answer it well, fine; you've still shown you thought about the failure mode that actually loses product.</a:t>
            </a:r>
          </a:p>
          <a:p/>
          <a:p>
            <a:r>
              <a:t>A silent sensor is worse than a warm one. A warm one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does the work, because none of it is my estimate — the left column is their own quote.</a:t>
            </a:r>
          </a:p>
          <a:p/>
          <a:p>
            <a:r>
              <a:t>Two lines to point at:</a:t>
            </a:r>
          </a:p>
          <a:p/>
          <a:p>
            <a:r>
              <a:t>GATEWAYS. Their sensors talk a proprietary protocol and need four gateways to reach the network. Mine have WiFi built in. That's $2,396 that simply doesn't exist on my side.</a:t>
            </a:r>
          </a:p>
          <a:p/>
          <a:p>
            <a:r>
              <a:t>NIST, 24 MONTHS. It sits under 'one time items' but it expires. That's $1,875 again in two years, and again in four. My reference thermometer is bought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 once. Then stop talking and let them do the arithmetic themselves.</a:t>
            </a:r>
          </a:p>
          <a:p/>
          <a:p>
            <a:r>
              <a:t>The assumptions are deliberately conservative: I held their subscription flat rather than assuming increases, and I only counted two NIST recertifications.</a:t>
            </a:r>
          </a:p>
          <a:p/>
          <a:p>
            <a:r>
              <a:t>The last line is the real point. This quote is for a NEW location — it hasn't been signed yet. That's the decision on the table, and every location after it carries the same gap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Facilities teams worry you're going to drill into a freezer wall. Say early that nothing gets drilled — flat gasket cables are standard practice.</a:t>
            </a:r>
          </a:p>
          <a:p/>
          <a:p>
            <a:r>
              <a:t>The battery box pre-empts the obvious question. Mains isn't a compromise here, it's the right answer: everything we're monitoring is a fixed installation with power already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why they'll believe the rest of the deck.</a:t>
            </a:r>
          </a:p>
          <a:p/>
          <a:p>
            <a:r>
              <a:t>A pitch with no acknowledged weaknesses reads as a demo. Naming the sensor accuracy problem yourself — before anyone who knows sensors asks — is the single most credible thing in the presentation.</a:t>
            </a:r>
          </a:p>
          <a:p/>
          <a:p>
            <a:r>
              <a:t>The calibration line is also your rebuttal on price. Say it out loud: their $125 per sensor buys traceability. I buy it once, for $350, for the whole fleet.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the pilot, not the contract. It's a small yes.</a:t>
            </a:r>
          </a:p>
          <a:p/>
          <a:p>
            <a:r>
              <a:t>The strongest thing about running in parallel is that it costs them nothing to be wrong about you. If the data doesn't hold up, they've spent a few hundred dollars and learned something.</a:t>
            </a:r>
          </a:p>
          <a:p/>
          <a:p>
            <a:r>
              <a:t>Then stop talking and let them respond.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65960"/>
            <a:ext cx="566928" cy="82296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81328" y="1965960"/>
            <a:ext cx="566928" cy="82296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39696" y="1965960"/>
            <a:ext cx="566928" cy="82296"/>
          </a:xfrm>
          <a:prstGeom prst="rect">
            <a:avLst/>
          </a:prstGeom>
          <a:solidFill>
            <a:srgbClr val="7FC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8064" y="1965960"/>
            <a:ext cx="566928" cy="82296"/>
          </a:xfrm>
          <a:prstGeom prst="rect">
            <a:avLst/>
          </a:prstGeom>
          <a:solidFill>
            <a:srgbClr val="E89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1965960"/>
            <a:ext cx="566928" cy="82296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1965960"/>
            <a:ext cx="566928" cy="82296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9692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>
                <a:solidFill>
                  <a:srgbClr val="FAFBFC"/>
                </a:solidFill>
                <a:latin typeface="Georgia"/>
              </a:rPr>
              <a:t>Temperature monitoring,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>
                <a:solidFill>
                  <a:srgbClr val="7FC4D2"/>
                </a:solidFill>
                <a:latin typeface="Georgia"/>
              </a:rPr>
              <a:t>built in-house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3D2D8"/>
                </a:solidFill>
                <a:latin typeface="Arial"/>
              </a:rPr>
              <a:t>Quote #145514 puts the new Auburn location at $9,202.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AFBFC"/>
                </a:solidFill>
                <a:latin typeface="Arial"/>
              </a:rPr>
              <a:t>I can cover the same 15 points for $1,544 — and it is already running.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715000"/>
            <a:ext cx="2011680" cy="18288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828C"/>
                </a:solidFill>
                <a:latin typeface="Arial"/>
              </a:rPr>
              <a:t>Plymouth Poultry  ·  Auburn WA  ·  prototype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It already works. Here's what's running.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sensors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across 4 companies and 5 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553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&lt; 20s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6553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breach to Slack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from probe to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$70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per monitoring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against $370 on the quote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3741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3741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gateways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3741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WiFi is built into the 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977639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Probe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in the freezer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5083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50843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443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Broker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9443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authenticated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2967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Database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permanent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851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611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211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211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judges + 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623560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The probe never decides what counts as an emergency. It reports, the system judges. That's why one platform can watch fresh poultry at 30°F and a freezer at −5°F without either one getting the other's rules.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Built on PostgreSQL, MQTT and Grafana — all open source, all industry standard.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Watch it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587752"/>
            <a:ext cx="45720" cy="566928"/>
          </a:xfrm>
          <a:prstGeom prst="rect">
            <a:avLst/>
          </a:prstGeom>
          <a:solidFill>
            <a:srgbClr val="7FC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14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Chilled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551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Everything green.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730752"/>
            <a:ext cx="45720" cy="566928"/>
          </a:xfrm>
          <a:prstGeom prst="rect">
            <a:avLst/>
          </a:prstGeom>
          <a:solidFill>
            <a:srgbClr val="E89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Hot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694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Crosses the limit in seconds. Panel goes red, Slack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873752"/>
            <a:ext cx="45720" cy="566928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Pull the probe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37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Reports a sensor fault, then marks the unit offline.
It knows the difference between broken and disconnected.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806440"/>
            <a:ext cx="10545775" cy="13716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FC4D2"/>
                </a:solidFill>
                <a:latin typeface="Arial"/>
              </a:rPr>
              <a:t>Every number on screen is real. Nothing here is a mock-up.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Three failures, not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12848"/>
            <a:ext cx="45720" cy="868680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31136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Too warm, or too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67712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Each unit judged against its own limits. Fresh poultry at 27–34°F and a freezer at −9 to 0°F run on the same rule.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91840"/>
            <a:ext cx="45720" cy="868680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0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Sensor stops reporting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57600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346704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A dead sensor sends nothing, so a temperature rule has nothing to fire on. This one watches for the silence.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70832"/>
            <a:ext cx="45720" cy="868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38912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Battery running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36592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425696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Flagged before it goes dark, so it's replaced on schedule instead of discovered after a loss.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545775" cy="841248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687568"/>
            <a:ext cx="98142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1E25"/>
                </a:solidFill>
                <a:latin typeface="Arial"/>
              </a:rPr>
              <a:t>Worth asking SmartSense: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37782"/>
                </a:solidFill>
                <a:latin typeface="Arial"/>
              </a:rPr>
              <a:t>if a sensor dies at 2am, what tells you — and how long before you know?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Alerts group by company and site, so each manager only gets their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Quote #145514, line by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214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37782"/>
                </a:solidFill>
                <a:latin typeface="Arial"/>
              </a:rPr>
              <a:t>AUBURN WA — 15 MONITORING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1214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622D"/>
                </a:solidFill>
                <a:latin typeface="Arial"/>
              </a:rPr>
              <a:t>SMARTSENSE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1214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8A9E"/>
                </a:solidFill>
                <a:latin typeface="Arial"/>
              </a:rPr>
              <a:t>MINE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Gateways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4378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4 needed at $599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243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$2,396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86207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WiFi is built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72968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Sensor + 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107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10 at $245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912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$2,450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1912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$1,050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429000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15 units at $70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39896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NIST certification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40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15 at $125, expires in 24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75818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$1,875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75818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99592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one reference, no expiry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306824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Duty, tariff, shipping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44568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imported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3251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$407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3251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5628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bought domestically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87375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Tax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111496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892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$748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892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21E25"/>
                </a:solidFill>
                <a:latin typeface="Arial"/>
              </a:rPr>
              <a:t>Subscription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67842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37782"/>
                </a:solidFill>
                <a:latin typeface="Arial"/>
              </a:rPr>
              <a:t>per site, per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4589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622D"/>
                </a:solidFill>
                <a:latin typeface="Georgia"/>
              </a:rPr>
              <a:t>$1,200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54589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B8A9E"/>
                </a:solidFill>
                <a:latin typeface="Georgia"/>
              </a:rPr>
              <a:t>$144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696712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7782"/>
                </a:solidFill>
                <a:latin typeface="Arial"/>
              </a:rPr>
              <a:t>hosting, all sites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6025896"/>
            <a:ext cx="10545775" cy="18288"/>
          </a:xfrm>
          <a:prstGeom prst="rect">
            <a:avLst/>
          </a:prstGeom>
          <a:solidFill>
            <a:srgbClr val="121E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617220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First year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613562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4622D"/>
                </a:solidFill>
                <a:latin typeface="Georgia"/>
              </a:rPr>
              <a:t>$9,202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613562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2B8A9E"/>
                </a:solidFill>
                <a:latin typeface="Georgia"/>
              </a:rPr>
              <a:t>$1,544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Their figures are taken directly from the quote. Mine are at the same 15 monitoring 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The same site, five years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935C"/>
                </a:solidFill>
                <a:latin typeface="Arial"/>
              </a:rPr>
              <a:t>SMARTSENSE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7498079" cy="713232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59" y="265176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FAFBFC"/>
                </a:solidFill>
                <a:latin typeface="Georgia"/>
              </a:rPr>
              <a:t>$18,256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198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$9,202 first year   +   $5,304 subscriptions   +   $3,750 NIST recertification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C4D2"/>
                </a:solidFill>
                <a:latin typeface="Arial"/>
              </a:rPr>
              <a:t>MINE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34840"/>
            <a:ext cx="908857861469" cy="713232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448056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FAFBFC"/>
                </a:solidFill>
                <a:latin typeface="Georgia"/>
              </a:rPr>
              <a:t>$2,420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4865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$1,050 hardware   +   $650 calibration   +   $720 hosting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29800" y="2286000"/>
            <a:ext cx="13716" cy="3063240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0" y="23774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7FC4D2"/>
                </a:solidFill>
                <a:latin typeface="Georgia"/>
              </a:rPr>
              <a:t>$15,836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saved on this
site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4114800"/>
            <a:ext cx="2103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7FC4D2"/>
                </a:solidFill>
                <a:latin typeface="Georgia"/>
              </a:rPr>
              <a:t>87%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lower over
five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AFBFC"/>
                </a:solidFill>
                <a:latin typeface="Georgia"/>
              </a:rPr>
              <a:t>And this quote is for one new location. Every site after it widens the gap.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A3A44"/>
                </a:solidFill>
                <a:latin typeface="Arial"/>
              </a:rPr>
              <a:t>Subscription held flat at today's rate. NIST recertified at 24 and 48 months, as quoted.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Wall power, and a probe through the door seal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Mains powered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23744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Freezers and server rooms both have power. No batteries to manage, and no dead sensor because nobody swapped a cell.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Probe through the gasket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30752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A flat cable passes through the door seal without compromising it. Nothing gets drilled, nothing gets modified.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08576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Enclosure I print myself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About $10, and I can change the shape for whatever mounting a site needs.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2148840"/>
            <a:ext cx="4526280" cy="3246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239572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4622D"/>
                </a:solidFill>
                <a:latin typeface="Arial"/>
              </a:rPr>
              <a:t>WHY NOT BATTERIES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816352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21E25"/>
                </a:solidFill>
                <a:latin typeface="Arial"/>
              </a:rPr>
              <a:t>Lithium cells lose 20–40% of their capacity at freezer temperatures.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Every one of these installs is somewhere with a wall socket a few feet away. Running on mains removes an entire category of failure — and it's why I can report every few minutes instead of once an hour.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Same hardware for warehouse freezers and server rooms — only the temperature limits differ.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OPEN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What I still have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2848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The probe isn't accurate enough for frozen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The current sensor is rated ±0.9°F only above 14°F. For freezers I move to an RTD probe — ±0.27°F across the whole range, $8–15 a unit. Poultry cold storage at 27–34°F is inside the accurate band, so those points are fine as they 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55263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11296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Calibration has to be auditable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587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One NIST-traceable reference thermometer, roughly $350, calibrates the whole fleet with documentation an auditor will accept. The quote charges $125 a sensor for a certificate that expires after 24 months — mine is bought once.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553711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09744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Security needs hardening before it carries 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57216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The prototype runs on a trusted network. Production adds encrypted transport and per-device credentials. Known work, not a surprise.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852159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8A9E"/>
                </a:solidFill>
                <a:latin typeface="Arial"/>
              </a:rPr>
              <a:t>I'd rather raise these than have you find them. None of them change the numbers.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Let me run one site for 30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4048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Install alongside what's already there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423160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Both systems running on the same freezers. Nothing gets turned 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64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4838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Compare the data at the end of the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50215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Same equipment, same conditions. If mine doesn't hold up, we've lost a few hundred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354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56285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Move sites across one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58114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Each subscription cancels only after its replacement has proven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623560"/>
            <a:ext cx="10545775" cy="13716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AFBFC"/>
                </a:solidFill>
                <a:latin typeface="Georgia"/>
              </a:rPr>
              <a:t>One site, one month, a few hundred dollars of hardware.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