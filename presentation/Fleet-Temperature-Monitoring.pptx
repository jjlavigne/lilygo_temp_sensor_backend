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object, not the slide. Pick up the board.</a:t>
            </a:r>
          </a:p>
          <a:p/>
          <a:p>
            <a:r>
              <a:t>'This has been running for six days. Everything you're about to see on screen is coming from it, or from twenty simulated units I built to prove it scales.'</a:t>
            </a:r>
          </a:p>
          <a:p/>
          <a:p>
            <a:r>
              <a:t>Don't explain the architecture yet. Get them looking at the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numbers, then move on. Don't read them out — let them read.</a:t>
            </a:r>
          </a:p>
          <a:p/>
          <a:p>
            <a:r>
              <a:t>The bottom line is the one that matters technically: separating 'report' from 'judge' is what lets one system serve customers with completely different temperature requirements. It's also why the alerting actually works.</a:t>
            </a:r>
          </a:p>
          <a:p/>
          <a:p>
            <a:r>
              <a:t>If asked what it's built on: nothing exotic. Postgres, MQTT, Grafana. No vendor lock-in, no proprietary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REHEARSE THIS. It's the whole pitch.</a:t>
            </a:r>
          </a:p>
          <a:p/>
          <a:p>
            <a:r>
              <a:t>Start the probe in CHILLED water, not room air. At room temperature it reads about 73F, which is already 30 degrees above the produce ceiling — the dashboard would open in alarm and the demo loses its arc.</a:t>
            </a:r>
          </a:p>
          <a:p/>
          <a:p>
            <a:r>
              <a:t>Hot tap water is around 130F. Plenty dramatic, and safer for the probe than boiling.</a:t>
            </a:r>
          </a:p>
          <a:p/>
          <a:p>
            <a:r>
              <a:t>The third beat is the one people remember. Most monitoring shows a gap and leaves you guessing. This says which failure it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 row is the differentiator. Spend your time there.</a:t>
            </a:r>
          </a:p>
          <a:p/>
          <a:p>
            <a:r>
              <a:t>I don't know what SmartSense does or doesn't catch, so don't claim it. Ask the question instead — it's more disarming and it can't backfire. If they can answer it well, fine; you've still shown you thought about the failure mode that actually loses product.</a:t>
            </a:r>
          </a:p>
          <a:p/>
          <a:p>
            <a:r>
              <a:t>A silent sensor is worse than a warm one. A warm one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THESE NUMBERS with Plymouth's real site count before you present. The maths only gets better — their cost is per-site, mine isn't.</a:t>
            </a:r>
          </a:p>
          <a:p/>
          <a:p>
            <a:r>
              <a:t>Say the big number once, then stop talking. Let it sit.</a:t>
            </a:r>
          </a:p>
          <a:p/>
          <a:p>
            <a:r>
              <a:t>If pushed on the $12 hosting: it's a small cloud server running the whole stack. Storage is nothing — twenty sensors generate about 350MB a year.</a:t>
            </a:r>
          </a:p>
          <a:p/>
          <a:p>
            <a:r>
              <a:t>The $350 calibration reference is a single NIST-traceable thermometer that calibrates the entire fleet. That's the answer to 'but theirs come pre-calibrated'.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Facilities teams worry you're going to drill into a freezer wall. Say early that nothing gets drilled — flat gasket cables are standard practice.</a:t>
            </a:r>
          </a:p>
          <a:p/>
          <a:p>
            <a:r>
              <a:t>The battery box pre-empts the obvious question. Mains isn't a compromise here, it's the right answer: everything we're monitoring is a fixed installation with power already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they'll believe the rest of the deck.</a:t>
            </a:r>
          </a:p>
          <a:p/>
          <a:p>
            <a:r>
              <a:t>A pitch with no acknowledged weaknesses reads as a demo. Naming the sensor accuracy problem yourself — before anyone who knows sensors asks — is the single most credible thing in the presentation.</a:t>
            </a:r>
          </a:p>
          <a:p/>
          <a:p>
            <a:r>
              <a:t>The calibration line is also your rebuttal on price. Say it out loud: their $125 per sensor buys traceability. I buy it once, for $350, for the whole fleet.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pilot, not the contract. It's a small yes.</a:t>
            </a:r>
          </a:p>
          <a:p/>
          <a:p>
            <a:r>
              <a:t>The strongest thing about running in parallel is that it costs them nothing to be wrong about you. If the data doesn't hold up, they've spent a few hundred dollars and learned something.</a:t>
            </a:r>
          </a:p>
          <a:p/>
          <a:p>
            <a:r>
              <a:t>Then stop talking and let them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81328" y="1965960"/>
            <a:ext cx="566928" cy="82296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39696" y="1965960"/>
            <a:ext cx="566928" cy="82296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8064" y="1965960"/>
            <a:ext cx="566928" cy="82296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56432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965960"/>
            <a:ext cx="566928" cy="82296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9692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FAFBFC"/>
                </a:solidFill>
                <a:latin typeface="Georgia"/>
              </a:rPr>
              <a:t>Temperature monitoring,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7FC4D2"/>
                </a:solidFill>
                <a:latin typeface="Georgia"/>
              </a:rPr>
              <a:t>built in-house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3D2D8"/>
                </a:solidFill>
                <a:latin typeface="Arial"/>
              </a:rPr>
              <a:t>Same job as SmartSense. Roughly a tenth of the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AFBFC"/>
                </a:solidFill>
                <a:latin typeface="Arial"/>
              </a:rPr>
              <a:t>The unit on the table is live and reporting right now.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715000"/>
            <a:ext cx="2011680" cy="18288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43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828C"/>
                </a:solidFill>
                <a:latin typeface="Arial"/>
              </a:rPr>
              <a:t>Prototype demonstration  ·  Plymouth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It already works. Here's what's running.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sensors 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across 4 companies and 5 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553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&lt; 20s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breach to Slack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from probe to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$70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per monitoring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hardware, case and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3741" y="2286000"/>
            <a:ext cx="246499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2B8A9E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3741" y="2971800"/>
            <a:ext cx="22821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1E25"/>
                </a:solidFill>
                <a:latin typeface="Arial"/>
              </a:rPr>
              <a:t>per-site licences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3741" y="3255264"/>
            <a:ext cx="22363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adding a site costs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in the freezer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5083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0843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443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Broker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443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authenticated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2967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permanent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851" y="4617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EAFB7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611" y="4343400"/>
            <a:ext cx="2362123" cy="960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211" y="4526280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1E25"/>
                </a:solidFill>
                <a:latin typeface="Arial"/>
              </a:rPr>
              <a:t>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211" y="4828032"/>
            <a:ext cx="19963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37782"/>
                </a:solidFill>
                <a:latin typeface="Arial"/>
              </a:rPr>
              <a:t>judges +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623560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The probe never decides what counts as an emergency. It reports, the system judges. That's why one platform can watch produce at 40°F and a freezer at −5°F without either one getting the other's rules.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Built on PostgreSQL, MQTT and Grafana — all open source, all industry standard.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Watch it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87752"/>
            <a:ext cx="45720" cy="566928"/>
          </a:xfrm>
          <a:prstGeom prst="rect">
            <a:avLst/>
          </a:prstGeom>
          <a:solidFill>
            <a:srgbClr val="7FC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Chilled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551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Everything green.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30752"/>
            <a:ext cx="45720" cy="566928"/>
          </a:xfrm>
          <a:prstGeom prst="rect">
            <a:avLst/>
          </a:prstGeom>
          <a:solidFill>
            <a:srgbClr val="E89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Hot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694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Crosses the limit in seconds. Panel goes red, Slack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873752"/>
            <a:ext cx="45720" cy="566928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AFBFC"/>
                </a:solidFill>
                <a:latin typeface="Georgia"/>
              </a:rPr>
              <a:t>Pull the probe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37176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4C5CC"/>
                </a:solidFill>
                <a:latin typeface="Arial"/>
              </a:rPr>
              <a:t>Reports a sensor fault, then marks the unit offline.
It knows the difference between broken and disconnected.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80644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FC4D2"/>
                </a:solidFill>
                <a:latin typeface="Arial"/>
              </a:rPr>
              <a:t>Every number on screen is real. Nothing here is a mock-up.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Three failures, not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12848"/>
            <a:ext cx="45720" cy="868680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31136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Too warm, or too cold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67712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Each unit judged against its own limits. Produce at 36–43°F and a freezer at −9 to 0°F run on the same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45720" cy="868680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0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Sensor stops reporting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5760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346704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A dead sensor sends nothing, so a temperature rule has nothing to fire on. This one watches for the silence.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70832"/>
            <a:ext cx="45720" cy="868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3891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21E25"/>
                </a:solidFill>
                <a:latin typeface="Arial"/>
              </a:rPr>
              <a:t>Battery running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3659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>
                <a:solidFill>
                  <a:srgbClr val="121E25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425696"/>
            <a:ext cx="5852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37782"/>
                </a:solidFill>
                <a:latin typeface="Arial"/>
              </a:rPr>
              <a:t>Flagged before it goes dark, so it's replaced on schedule instead of discovered after a loss.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545775" cy="841248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687568"/>
            <a:ext cx="98142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1E25"/>
                </a:solidFill>
                <a:latin typeface="Arial"/>
              </a:rPr>
              <a:t>Worth asking SmartSense: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37782"/>
                </a:solidFill>
                <a:latin typeface="Arial"/>
              </a:rPr>
              <a:t>if a sensor dies at 2am, what tells you — and how long before you know?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Alerts group by company and site, so each manager only gets their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Five years, four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935C"/>
                </a:solidFill>
                <a:latin typeface="Arial"/>
              </a:rPr>
              <a:t>SMARTSENSE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7680960" cy="658368"/>
          </a:xfrm>
          <a:prstGeom prst="rect">
            <a:avLst/>
          </a:prstGeom>
          <a:solidFill>
            <a:srgbClr val="C46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6060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AFBFC"/>
                </a:solidFill>
                <a:latin typeface="Georgia"/>
              </a:rPr>
              <a:t>$31,400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01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$7,400 hardware   +   $24,000 in subscriptions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FC4D2"/>
                </a:solidFill>
                <a:latin typeface="Arial"/>
              </a:rPr>
              <a:t>MINE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97680"/>
            <a:ext cx="552483135836" cy="65836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434340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FAFBFC"/>
                </a:solidFill>
                <a:latin typeface="Georgia"/>
              </a:rPr>
              <a:t>$2,470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4748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EA2AB"/>
                </a:solidFill>
                <a:latin typeface="Arial"/>
              </a:rPr>
              <a:t>$1,400 hardware   +   $350 calibration reference   +   $720 hosting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2240280"/>
            <a:ext cx="13716" cy="3108960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240280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AFBFC"/>
                </a:solidFill>
                <a:latin typeface="Georgia"/>
              </a:rPr>
              <a:t>$370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87752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EA2AB"/>
                </a:solidFill>
                <a:latin typeface="Arial"/>
              </a:rPr>
              <a:t>their cost per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60" y="3035808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AFBFC"/>
                </a:solidFill>
                <a:latin typeface="Georgia"/>
              </a:rPr>
              <a:t>$70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3383280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EA2AB"/>
                </a:solidFill>
                <a:latin typeface="Arial"/>
              </a:rPr>
              <a:t>mine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60" y="3831336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AFBFC"/>
                </a:solidFill>
                <a:latin typeface="Georgia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4178808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EA2AB"/>
                </a:solidFill>
                <a:latin typeface="Arial"/>
              </a:rPr>
              <a:t>their monthly fee, per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4626864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AFBFC"/>
                </a:solidFill>
                <a:latin typeface="Georgia"/>
              </a:rPr>
              <a:t>$12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4974336"/>
            <a:ext cx="2011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EA2AB"/>
                </a:solidFill>
                <a:latin typeface="Arial"/>
              </a:rPr>
              <a:t>mine, all sites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About $29,000 back over five years — and the gap widens with every site we add.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A3A44"/>
                </a:solidFill>
                <a:latin typeface="Arial"/>
              </a:rPr>
              <a:t>Modelled on four sites at five monitoring points each. Replace with our real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Wall power, and a probe through the door seal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Mains powered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2374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Freezers and server rooms both have power. No batteries to manage, and no dead sensor because nobody swapped a cell.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Probe through the gasket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3075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 flat cable passes through the door seal without compromising it. Nothing gets drilled, nothing gets modified.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08576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Enclosure I print myself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About $10, and I can change the shape for whatever mounting a site needs.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2148840"/>
            <a:ext cx="4526280" cy="3246120"/>
          </a:xfrm>
          <a:prstGeom prst="roundRect">
            <a:avLst>
              <a:gd name="adj" fmla="val 3000"/>
            </a:avLst>
          </a:prstGeom>
          <a:solidFill>
            <a:srgbClr val="F0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239572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4622D"/>
                </a:solidFill>
                <a:latin typeface="Arial"/>
              </a:rPr>
              <a:t>WHY NOT BATTERIES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816352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21E25"/>
                </a:solidFill>
                <a:latin typeface="Arial"/>
              </a:rPr>
              <a:t>Lithium cells lose 20–40% of their capacity at freezer temperatures.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Every one of these installs is somewhere with a wall socket a few feet away. Running on mains removes an entire category of failure — and it's why I can report every few minutes instead of once an hour.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5457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EAFB7"/>
                </a:solidFill>
                <a:latin typeface="Arial"/>
              </a:rPr>
              <a:t>Same hardware for warehouse freezers and server rooms — only the temperature limits differ.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37782"/>
                </a:solidFill>
                <a:latin typeface="Arial"/>
              </a:rPr>
              <a:t>   OPEN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121E25"/>
                </a:solidFill>
                <a:latin typeface="Georgia"/>
              </a:rPr>
              <a:t>What I still have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2848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The probe isn't accurate enough for frozen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current sensor is rated ±0.9°F only above 14°F. For freezers I move to an RTD probe — ±0.27°F across the whole range, $8–15 a unit. Chilled produce is fine as-is.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55263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11296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Calibration has to be auditable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587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One NIST-traceable reference thermometer, roughly $350, calibrates the whole fleet with documentation an auditor will accept. Their $125 per sensor buys the same thing, over and 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53711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09744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1E25"/>
                </a:solidFill>
                <a:latin typeface="Arial"/>
              </a:rPr>
              <a:t>Security needs hardening before it carries 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57216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37782"/>
                </a:solidFill>
                <a:latin typeface="Arial"/>
              </a:rPr>
              <a:t>The prototype runs on a trusted network. Production adds encrypted transport and per-device credentials. Known work, not a surprise.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852159"/>
            <a:ext cx="10545775" cy="13716"/>
          </a:xfrm>
          <a:prstGeom prst="rect">
            <a:avLst/>
          </a:prstGeom>
          <a:solidFill>
            <a:srgbClr val="DD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8A9E"/>
                </a:solidFill>
                <a:latin typeface="Arial"/>
              </a:rPr>
              <a:t>I'd rather raise these than have you find them. None of them change the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0292" cy="384048"/>
          </a:xfrm>
          <a:prstGeom prst="rect">
            <a:avLst/>
          </a:prstGeom>
          <a:solidFill>
            <a:srgbClr val="2B8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583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8A9E"/>
                </a:solidFill>
                <a:latin typeface="Arial"/>
              </a:rPr>
              <a:t>07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AFB7"/>
                </a:solidFill>
                <a:latin typeface="Arial"/>
              </a:rPr>
              <a:t>  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5457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>
                <a:solidFill>
                  <a:srgbClr val="FAFBFC"/>
                </a:solidFill>
                <a:latin typeface="Georgia"/>
              </a:rPr>
              <a:t>Let me run one site for 30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4048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Install alongside what's already there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42316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Both systems running on the same freezers. Nothing gets turned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64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4838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Compare the data at the end of the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50215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Same equipment, same conditions. If mine doesn't hold up, we've lost a few hundred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354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7FC4D2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56285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AFBFC"/>
                </a:solidFill>
                <a:latin typeface="Arial"/>
              </a:rPr>
              <a:t>Move sites across one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58114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B2BA"/>
                </a:solidFill>
                <a:latin typeface="Arial"/>
              </a:rPr>
              <a:t>Each subscription cancels only after its replacement has proven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623560"/>
            <a:ext cx="10545775" cy="13716"/>
          </a:xfrm>
          <a:prstGeom prst="rect">
            <a:avLst/>
          </a:prstGeom>
          <a:solidFill>
            <a:srgbClr val="2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AFBFC"/>
                </a:solidFill>
                <a:latin typeface="Georgia"/>
              </a:rPr>
              <a:t>One site, one month, a few hundred dollars of hardware.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