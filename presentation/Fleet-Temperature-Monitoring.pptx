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object, not the slide. Pick up the board.</a:t>
            </a:r>
          </a:p>
          <a:p/>
          <a:p>
            <a:r>
              <a:t>'This has been running for six days. Everything you're about to see on screen is coming from it, or from twenty simulated units I built to prove it scales.'</a:t>
            </a:r>
          </a:p>
          <a:p/>
          <a:p>
            <a:r>
              <a:t>Don't explain the architecture yet. Get them looking at the hardware.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numbers, then move on. Don't read them out — let them read.</a:t>
            </a:r>
          </a:p>
          <a:p/>
          <a:p>
            <a:r>
              <a:t>The bottom line is the one that matters technically: separating 'report' from 'judge' is what lets one system serve customers with completely different temperature requirements. It's also why the alerting actually works.</a:t>
            </a:r>
          </a:p>
          <a:p/>
          <a:p>
            <a:r>
              <a:t>If asked what it's built on: nothing exotic. Postgres, MQTT, Grafana. No vendor lock-in, no proprietary anything.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REHEARSE THIS. It's the whole pitch.</a:t>
            </a:r>
          </a:p>
          <a:p/>
          <a:p>
            <a:r>
              <a:t>Start the probe in CHILLED water, not room air. At room temperature it reads about 73F, which is already 30 degrees above the produce ceiling — the dashboard would open in alarm and the demo loses its arc.</a:t>
            </a:r>
          </a:p>
          <a:p/>
          <a:p>
            <a:r>
              <a:t>Hot tap water is around 130F. Plenty dramatic, and safer for the probe than boiling.</a:t>
            </a:r>
          </a:p>
          <a:p/>
          <a:p>
            <a:r>
              <a:t>The third beat is the one people remember. Most monitoring shows a gap and leaves you guessing. This says which failure it was.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middle row is the differentiator. Spend your time there.</a:t>
            </a:r>
          </a:p>
          <a:p/>
          <a:p>
            <a:r>
              <a:t>I don't know what SmartSense does or doesn't catch, so don't claim it. Ask the question instead — it's more disarming and it can't backfire. If they can answer it well, fine; you've still shown you thought about the failure mode that actually loses product.</a:t>
            </a:r>
          </a:p>
          <a:p/>
          <a:p>
            <a:r>
              <a:t>A silent sensor is worse than a warm one. A warm one you can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does the work, because none of it is my estimate — the left column is their own quote.</a:t>
            </a:r>
          </a:p>
          <a:p/>
          <a:p>
            <a:r>
              <a:t>Two lines to point at:</a:t>
            </a:r>
          </a:p>
          <a:p/>
          <a:p>
            <a:r>
              <a:t>GATEWAYS. Their sensors talk a proprietary protocol and need four gateways to reach the network. Mine have WiFi built in. That's $2,396 that simply doesn't exist on my side.</a:t>
            </a:r>
          </a:p>
          <a:p/>
          <a:p>
            <a:r>
              <a:t>NIST, 24 MONTHS. It sits under 'one time items' but it expires. That's $1,875 again in two years, and again in four. My reference thermometer is bought once.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 once. Then stop talking and let them do the arithmetic themselves.</a:t>
            </a:r>
          </a:p>
          <a:p/>
          <a:p>
            <a:r>
              <a:t>The assumptions are deliberately conservative: I held their subscription flat rather than assuming increases, and I only counted two NIST recertifications.</a:t>
            </a:r>
          </a:p>
          <a:p/>
          <a:p>
            <a:r>
              <a:t>The last line is the real point. This quote is for a NEW location — it hasn't been signed yet. That's the decision on the table, and every location after it carries the same gap again.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a technical person will ask: if their system needs four gateways, why doesn't yours?</a:t>
            </a:r>
          </a:p>
          <a:p/>
          <a:p>
            <a:r>
              <a:t>The answer isn't that mine is cleverer. It's that the electronics sit outside the freezer, so the radio never has to get through a metal wall. Their design puts the whole sensor inside, which is a genuinely hard RF problem, and gateways are how you solve it.</a:t>
            </a:r>
          </a:p>
          <a:p/>
          <a:p>
            <a:r>
              <a:t>Confirm before presenting: WiFi coverage at the freezers, whether IT will allow the device on the network, and that the network is 2.4GHz -- the board doesn't do 5GHz.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why they'll believe the rest of the deck.</a:t>
            </a:r>
          </a:p>
          <a:p/>
          <a:p>
            <a:r>
              <a:t>A pitch with no acknowledged weaknesses reads as a demo. Naming the sensor accuracy problem yourself — before anyone who knows sensors asks — is the single most credible thing in the presentation.</a:t>
            </a:r>
          </a:p>
          <a:p/>
          <a:p>
            <a:r>
              <a:t>The calibration line is also your rebuttal on price. Say it out loud: their $125 per sensor buys traceability. I buy it once, for $350, for the whole fleet.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the pilot, not the contract. It's a small yes.</a:t>
            </a:r>
          </a:p>
          <a:p/>
          <a:p>
            <a:r>
              <a:t>The strongest thing about running in parallel is that it costs them nothing to be wrong about you. If the data doesn't hold up, they've spent a few hundred dollars and learned something.</a:t>
            </a:r>
          </a:p>
          <a:p/>
          <a:p>
            <a:r>
              <a:t>Then stop talking and let them respond.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2"/>
        </a:solidFill>
        <a:effectLst/>
      </p:bgPr>
    </p:bg>
    <p:spTree>
      <p:nvGrpSpPr>
        <p:cNvPr id="1" name=""/>
        <p:cNvGrpSpPr/>
        <p:nvPr/>
      </p:nvGrpSpPr>
      <p:grpSpPr/>
      <p:sp>
        <p:nvSpPr>
          <p:cNvPr id="2" name="Rectangle 1"/>
          <p:cNvSpPr/>
          <p:nvPr/>
        </p:nvSpPr>
        <p:spPr>
          <a:xfrm>
            <a:off x="822960" y="1965960"/>
            <a:ext cx="566928" cy="82296"/>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481328" y="1965960"/>
            <a:ext cx="566928" cy="82296"/>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139696" y="1965960"/>
            <a:ext cx="566928" cy="82296"/>
          </a:xfrm>
          <a:prstGeom prst="rect">
            <a:avLst/>
          </a:prstGeom>
          <a:solidFill>
            <a:srgbClr val="7FC4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98064" y="1965960"/>
            <a:ext cx="566928" cy="82296"/>
          </a:xfrm>
          <a:prstGeom prst="rect">
            <a:avLst/>
          </a:prstGeom>
          <a:solidFill>
            <a:srgbClr val="E89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456432" y="1965960"/>
            <a:ext cx="566928" cy="82296"/>
          </a:xfrm>
          <a:prstGeom prst="rect">
            <a:avLst/>
          </a:prstGeom>
          <a:solidFill>
            <a:srgbClr val="C46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0" y="1965960"/>
            <a:ext cx="566928" cy="82296"/>
          </a:xfrm>
          <a:prstGeom prst="rect">
            <a:avLst/>
          </a:prstGeom>
          <a:solidFill>
            <a:srgbClr val="C46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77440"/>
            <a:ext cx="9692640" cy="1828800"/>
          </a:xfrm>
          <a:prstGeom prst="rect">
            <a:avLst/>
          </a:prstGeom>
          <a:noFill/>
        </p:spPr>
        <p:txBody>
          <a:bodyPr wrap="square" anchor="t" lIns="0" rIns="0" tIns="0" bIns="0">
            <a:spAutoFit/>
          </a:bodyPr>
          <a:lstStyle/>
          <a:p>
            <a:pPr algn="l">
              <a:lnSpc>
                <a:spcPct val="108000"/>
              </a:lnSpc>
              <a:spcBef>
                <a:spcPts val="0"/>
              </a:spcBef>
              <a:spcAft>
                <a:spcPts val="0"/>
              </a:spcAft>
            </a:pPr>
            <a:r>
              <a:rPr sz="4600" b="0">
                <a:solidFill>
                  <a:srgbClr val="FAFBFC"/>
                </a:solidFill>
                <a:latin typeface="Georgia"/>
              </a:rPr>
              <a:t>Temperature monitoring,</a:t>
            </a:r>
          </a:p>
          <a:p>
            <a:pPr algn="l">
              <a:lnSpc>
                <a:spcPct val="108000"/>
              </a:lnSpc>
              <a:spcBef>
                <a:spcPts val="0"/>
              </a:spcBef>
              <a:spcAft>
                <a:spcPts val="0"/>
              </a:spcAft>
            </a:pPr>
            <a:r>
              <a:rPr sz="4600" b="0">
                <a:solidFill>
                  <a:srgbClr val="7FC4D2"/>
                </a:solidFill>
                <a:latin typeface="Georgia"/>
              </a:rPr>
              <a:t>built in-house</a:t>
            </a:r>
          </a:p>
        </p:txBody>
      </p:sp>
      <p:sp>
        <p:nvSpPr>
          <p:cNvPr id="9" name="TextBox 8"/>
          <p:cNvSpPr txBox="1"/>
          <p:nvPr/>
        </p:nvSpPr>
        <p:spPr>
          <a:xfrm>
            <a:off x="822960" y="4343400"/>
            <a:ext cx="8595360" cy="914400"/>
          </a:xfrm>
          <a:prstGeom prst="rect">
            <a:avLst/>
          </a:prstGeom>
          <a:noFill/>
        </p:spPr>
        <p:txBody>
          <a:bodyPr wrap="square" anchor="t" lIns="0" rIns="0" tIns="0" bIns="0">
            <a:spAutoFit/>
          </a:bodyPr>
          <a:lstStyle/>
          <a:p>
            <a:pPr algn="l">
              <a:lnSpc>
                <a:spcPct val="135000"/>
              </a:lnSpc>
              <a:spcBef>
                <a:spcPts val="0"/>
              </a:spcBef>
              <a:spcAft>
                <a:spcPts val="0"/>
              </a:spcAft>
            </a:pPr>
            <a:r>
              <a:rPr sz="1800" b="0">
                <a:solidFill>
                  <a:srgbClr val="C3D2D8"/>
                </a:solidFill>
                <a:latin typeface="Arial"/>
              </a:rPr>
              <a:t>Quote #145514 puts the new Auburn location at $9,202.</a:t>
            </a:r>
          </a:p>
        </p:txBody>
      </p:sp>
      <p:sp>
        <p:nvSpPr>
          <p:cNvPr id="10" name="TextBox 9"/>
          <p:cNvSpPr txBox="1"/>
          <p:nvPr/>
        </p:nvSpPr>
        <p:spPr>
          <a:xfrm>
            <a:off x="822960" y="4892040"/>
            <a:ext cx="8595360" cy="457200"/>
          </a:xfrm>
          <a:prstGeom prst="rect">
            <a:avLst/>
          </a:prstGeom>
          <a:noFill/>
        </p:spPr>
        <p:txBody>
          <a:bodyPr wrap="square" anchor="t" lIns="0" rIns="0" tIns="0" bIns="0">
            <a:spAutoFit/>
          </a:bodyPr>
          <a:lstStyle/>
          <a:p>
            <a:pPr algn="l">
              <a:lnSpc>
                <a:spcPct val="100000"/>
              </a:lnSpc>
              <a:spcBef>
                <a:spcPts val="0"/>
              </a:spcBef>
              <a:spcAft>
                <a:spcPts val="0"/>
              </a:spcAft>
            </a:pPr>
            <a:r>
              <a:rPr sz="1800" b="1">
                <a:solidFill>
                  <a:srgbClr val="FAFBFC"/>
                </a:solidFill>
                <a:latin typeface="Arial"/>
              </a:rPr>
              <a:t>I can cover the same 15 points for $1,856 — and it is already running.</a:t>
            </a:r>
          </a:p>
        </p:txBody>
      </p:sp>
      <p:sp>
        <p:nvSpPr>
          <p:cNvPr id="11" name="Rectangle 10"/>
          <p:cNvSpPr/>
          <p:nvPr/>
        </p:nvSpPr>
        <p:spPr>
          <a:xfrm>
            <a:off x="822960" y="5715000"/>
            <a:ext cx="2011680" cy="18288"/>
          </a:xfrm>
          <a:prstGeom prst="rect">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943600"/>
            <a:ext cx="8229600" cy="320040"/>
          </a:xfrm>
          <a:prstGeom prst="rect">
            <a:avLst/>
          </a:prstGeom>
          <a:noFill/>
        </p:spPr>
        <p:txBody>
          <a:bodyPr wrap="square" anchor="t" lIns="0" rIns="0" tIns="0" bIns="0">
            <a:spAutoFit/>
          </a:bodyPr>
          <a:lstStyle/>
          <a:p>
            <a:pPr algn="l">
              <a:lnSpc>
                <a:spcPct val="100000"/>
              </a:lnSpc>
              <a:spcBef>
                <a:spcPts val="0"/>
              </a:spcBef>
              <a:spcAft>
                <a:spcPts val="0"/>
              </a:spcAft>
            </a:pPr>
            <a:r>
              <a:rPr sz="1100" b="0">
                <a:solidFill>
                  <a:srgbClr val="6E828C"/>
                </a:solidFill>
                <a:latin typeface="Arial"/>
              </a:rPr>
              <a:t>Plymouth Poultry  ·  Auburn WA  ·  prototype demonstration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01</a:t>
            </a:r>
          </a:p>
          <a:p>
            <a:pPr algn="l">
              <a:lnSpc>
                <a:spcPct val="100000"/>
              </a:lnSpc>
              <a:spcBef>
                <a:spcPts val="0"/>
              </a:spcBef>
              <a:spcAft>
                <a:spcPts val="0"/>
              </a:spcAft>
            </a:pPr>
            <a:r>
              <a:rPr sz="1200" b="0">
                <a:solidFill>
                  <a:srgbClr val="637782"/>
                </a:solidFill>
                <a:latin typeface="Arial"/>
              </a:rPr>
              <a:t>   THE SYSTEM</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121E25"/>
                </a:solidFill>
                <a:latin typeface="Georgia"/>
              </a:rPr>
              <a:t>It already works. Here's what's running.</a:t>
            </a:r>
          </a:p>
        </p:txBody>
      </p:sp>
      <p:sp>
        <p:nvSpPr>
          <p:cNvPr id="5" name="TextBox 4"/>
          <p:cNvSpPr txBox="1"/>
          <p:nvPr/>
        </p:nvSpPr>
        <p:spPr>
          <a:xfrm>
            <a:off x="822960" y="2286000"/>
            <a:ext cx="2464993" cy="731520"/>
          </a:xfrm>
          <a:prstGeom prst="rect">
            <a:avLst/>
          </a:prstGeom>
          <a:noFill/>
        </p:spPr>
        <p:txBody>
          <a:bodyPr wrap="square" anchor="t" lIns="0" rIns="0" tIns="0" bIns="0">
            <a:spAutoFit/>
          </a:bodyPr>
          <a:lstStyle/>
          <a:p>
            <a:pPr algn="l">
              <a:lnSpc>
                <a:spcPct val="100000"/>
              </a:lnSpc>
              <a:spcBef>
                <a:spcPts val="0"/>
              </a:spcBef>
              <a:spcAft>
                <a:spcPts val="0"/>
              </a:spcAft>
            </a:pPr>
            <a:r>
              <a:rPr sz="4000" b="0">
                <a:solidFill>
                  <a:srgbClr val="2B8A9E"/>
                </a:solidFill>
                <a:latin typeface="Georgia"/>
              </a:rPr>
              <a:t>21</a:t>
            </a:r>
          </a:p>
        </p:txBody>
      </p:sp>
      <p:sp>
        <p:nvSpPr>
          <p:cNvPr id="6" name="TextBox 5"/>
          <p:cNvSpPr txBox="1"/>
          <p:nvPr/>
        </p:nvSpPr>
        <p:spPr>
          <a:xfrm>
            <a:off x="822960" y="2971800"/>
            <a:ext cx="2282113" cy="256032"/>
          </a:xfrm>
          <a:prstGeom prst="rect">
            <a:avLst/>
          </a:prstGeom>
          <a:noFill/>
        </p:spPr>
        <p:txBody>
          <a:bodyPr wrap="square" anchor="t" lIns="0" rIns="0" tIns="0" bIns="0">
            <a:spAutoFit/>
          </a:bodyPr>
          <a:lstStyle/>
          <a:p>
            <a:pPr algn="l">
              <a:lnSpc>
                <a:spcPct val="100000"/>
              </a:lnSpc>
              <a:spcBef>
                <a:spcPts val="0"/>
              </a:spcBef>
              <a:spcAft>
                <a:spcPts val="0"/>
              </a:spcAft>
            </a:pPr>
            <a:r>
              <a:rPr sz="1300" b="1">
                <a:solidFill>
                  <a:srgbClr val="121E25"/>
                </a:solidFill>
                <a:latin typeface="Arial"/>
              </a:rPr>
              <a:t>sensors reporting</a:t>
            </a:r>
          </a:p>
        </p:txBody>
      </p:sp>
      <p:sp>
        <p:nvSpPr>
          <p:cNvPr id="7" name="TextBox 6"/>
          <p:cNvSpPr txBox="1"/>
          <p:nvPr/>
        </p:nvSpPr>
        <p:spPr>
          <a:xfrm>
            <a:off x="822960" y="3255264"/>
            <a:ext cx="2236393" cy="457200"/>
          </a:xfrm>
          <a:prstGeom prst="rect">
            <a:avLst/>
          </a:prstGeom>
          <a:noFill/>
        </p:spPr>
        <p:txBody>
          <a:bodyPr wrap="square" anchor="t" lIns="0" rIns="0" tIns="0" bIns="0">
            <a:spAutoFit/>
          </a:bodyPr>
          <a:lstStyle/>
          <a:p>
            <a:pPr algn="l">
              <a:lnSpc>
                <a:spcPct val="125000"/>
              </a:lnSpc>
              <a:spcBef>
                <a:spcPts val="0"/>
              </a:spcBef>
              <a:spcAft>
                <a:spcPts val="0"/>
              </a:spcAft>
            </a:pPr>
            <a:r>
              <a:rPr sz="1150" b="0">
                <a:solidFill>
                  <a:srgbClr val="637782"/>
                </a:solidFill>
                <a:latin typeface="Arial"/>
              </a:rPr>
              <a:t>across 4 companies and 5 sites</a:t>
            </a:r>
          </a:p>
        </p:txBody>
      </p:sp>
      <p:sp>
        <p:nvSpPr>
          <p:cNvPr id="8" name="TextBox 7"/>
          <p:cNvSpPr txBox="1"/>
          <p:nvPr/>
        </p:nvSpPr>
        <p:spPr>
          <a:xfrm>
            <a:off x="3516553" y="2286000"/>
            <a:ext cx="2464993" cy="731520"/>
          </a:xfrm>
          <a:prstGeom prst="rect">
            <a:avLst/>
          </a:prstGeom>
          <a:noFill/>
        </p:spPr>
        <p:txBody>
          <a:bodyPr wrap="square" anchor="t" lIns="0" rIns="0" tIns="0" bIns="0">
            <a:spAutoFit/>
          </a:bodyPr>
          <a:lstStyle/>
          <a:p>
            <a:pPr algn="l">
              <a:lnSpc>
                <a:spcPct val="100000"/>
              </a:lnSpc>
              <a:spcBef>
                <a:spcPts val="0"/>
              </a:spcBef>
              <a:spcAft>
                <a:spcPts val="0"/>
              </a:spcAft>
            </a:pPr>
            <a:r>
              <a:rPr sz="4000" b="0">
                <a:solidFill>
                  <a:srgbClr val="2B8A9E"/>
                </a:solidFill>
                <a:latin typeface="Georgia"/>
              </a:rPr>
              <a:t>&lt; 20s</a:t>
            </a:r>
          </a:p>
        </p:txBody>
      </p:sp>
      <p:sp>
        <p:nvSpPr>
          <p:cNvPr id="9" name="TextBox 8"/>
          <p:cNvSpPr txBox="1"/>
          <p:nvPr/>
        </p:nvSpPr>
        <p:spPr>
          <a:xfrm>
            <a:off x="3516553" y="2971800"/>
            <a:ext cx="2282113" cy="256032"/>
          </a:xfrm>
          <a:prstGeom prst="rect">
            <a:avLst/>
          </a:prstGeom>
          <a:noFill/>
        </p:spPr>
        <p:txBody>
          <a:bodyPr wrap="square" anchor="t" lIns="0" rIns="0" tIns="0" bIns="0">
            <a:spAutoFit/>
          </a:bodyPr>
          <a:lstStyle/>
          <a:p>
            <a:pPr algn="l">
              <a:lnSpc>
                <a:spcPct val="100000"/>
              </a:lnSpc>
              <a:spcBef>
                <a:spcPts val="0"/>
              </a:spcBef>
              <a:spcAft>
                <a:spcPts val="0"/>
              </a:spcAft>
            </a:pPr>
            <a:r>
              <a:rPr sz="1300" b="1">
                <a:solidFill>
                  <a:srgbClr val="121E25"/>
                </a:solidFill>
                <a:latin typeface="Arial"/>
              </a:rPr>
              <a:t>breach to Slack</a:t>
            </a:r>
          </a:p>
        </p:txBody>
      </p:sp>
      <p:sp>
        <p:nvSpPr>
          <p:cNvPr id="10" name="TextBox 9"/>
          <p:cNvSpPr txBox="1"/>
          <p:nvPr/>
        </p:nvSpPr>
        <p:spPr>
          <a:xfrm>
            <a:off x="3516553" y="3255264"/>
            <a:ext cx="2236393" cy="457200"/>
          </a:xfrm>
          <a:prstGeom prst="rect">
            <a:avLst/>
          </a:prstGeom>
          <a:noFill/>
        </p:spPr>
        <p:txBody>
          <a:bodyPr wrap="square" anchor="t" lIns="0" rIns="0" tIns="0" bIns="0">
            <a:spAutoFit/>
          </a:bodyPr>
          <a:lstStyle/>
          <a:p>
            <a:pPr algn="l">
              <a:lnSpc>
                <a:spcPct val="125000"/>
              </a:lnSpc>
              <a:spcBef>
                <a:spcPts val="0"/>
              </a:spcBef>
              <a:spcAft>
                <a:spcPts val="0"/>
              </a:spcAft>
            </a:pPr>
            <a:r>
              <a:rPr sz="1150" b="0">
                <a:solidFill>
                  <a:srgbClr val="637782"/>
                </a:solidFill>
                <a:latin typeface="Arial"/>
              </a:rPr>
              <a:t>from probe to phone</a:t>
            </a:r>
          </a:p>
        </p:txBody>
      </p:sp>
      <p:sp>
        <p:nvSpPr>
          <p:cNvPr id="11" name="TextBox 10"/>
          <p:cNvSpPr txBox="1"/>
          <p:nvPr/>
        </p:nvSpPr>
        <p:spPr>
          <a:xfrm>
            <a:off x="6210147" y="2286000"/>
            <a:ext cx="2464993" cy="731520"/>
          </a:xfrm>
          <a:prstGeom prst="rect">
            <a:avLst/>
          </a:prstGeom>
          <a:noFill/>
        </p:spPr>
        <p:txBody>
          <a:bodyPr wrap="square" anchor="t" lIns="0" rIns="0" tIns="0" bIns="0">
            <a:spAutoFit/>
          </a:bodyPr>
          <a:lstStyle/>
          <a:p>
            <a:pPr algn="l">
              <a:lnSpc>
                <a:spcPct val="100000"/>
              </a:lnSpc>
              <a:spcBef>
                <a:spcPts val="0"/>
              </a:spcBef>
              <a:spcAft>
                <a:spcPts val="0"/>
              </a:spcAft>
            </a:pPr>
            <a:r>
              <a:rPr sz="4000" b="0">
                <a:solidFill>
                  <a:srgbClr val="2B8A9E"/>
                </a:solidFill>
                <a:latin typeface="Georgia"/>
              </a:rPr>
              <a:t>$70</a:t>
            </a:r>
          </a:p>
        </p:txBody>
      </p:sp>
      <p:sp>
        <p:nvSpPr>
          <p:cNvPr id="12" name="TextBox 11"/>
          <p:cNvSpPr txBox="1"/>
          <p:nvPr/>
        </p:nvSpPr>
        <p:spPr>
          <a:xfrm>
            <a:off x="6210147" y="2971800"/>
            <a:ext cx="2282113" cy="256032"/>
          </a:xfrm>
          <a:prstGeom prst="rect">
            <a:avLst/>
          </a:prstGeom>
          <a:noFill/>
        </p:spPr>
        <p:txBody>
          <a:bodyPr wrap="square" anchor="t" lIns="0" rIns="0" tIns="0" bIns="0">
            <a:spAutoFit/>
          </a:bodyPr>
          <a:lstStyle/>
          <a:p>
            <a:pPr algn="l">
              <a:lnSpc>
                <a:spcPct val="100000"/>
              </a:lnSpc>
              <a:spcBef>
                <a:spcPts val="0"/>
              </a:spcBef>
              <a:spcAft>
                <a:spcPts val="0"/>
              </a:spcAft>
            </a:pPr>
            <a:r>
              <a:rPr sz="1300" b="1">
                <a:solidFill>
                  <a:srgbClr val="121E25"/>
                </a:solidFill>
                <a:latin typeface="Arial"/>
              </a:rPr>
              <a:t>per monitoring point</a:t>
            </a:r>
          </a:p>
        </p:txBody>
      </p:sp>
      <p:sp>
        <p:nvSpPr>
          <p:cNvPr id="13" name="TextBox 12"/>
          <p:cNvSpPr txBox="1"/>
          <p:nvPr/>
        </p:nvSpPr>
        <p:spPr>
          <a:xfrm>
            <a:off x="6210147" y="3255264"/>
            <a:ext cx="2236393" cy="457200"/>
          </a:xfrm>
          <a:prstGeom prst="rect">
            <a:avLst/>
          </a:prstGeom>
          <a:noFill/>
        </p:spPr>
        <p:txBody>
          <a:bodyPr wrap="square" anchor="t" lIns="0" rIns="0" tIns="0" bIns="0">
            <a:spAutoFit/>
          </a:bodyPr>
          <a:lstStyle/>
          <a:p>
            <a:pPr algn="l">
              <a:lnSpc>
                <a:spcPct val="125000"/>
              </a:lnSpc>
              <a:spcBef>
                <a:spcPts val="0"/>
              </a:spcBef>
              <a:spcAft>
                <a:spcPts val="0"/>
              </a:spcAft>
            </a:pPr>
            <a:r>
              <a:rPr sz="1150" b="0">
                <a:solidFill>
                  <a:srgbClr val="637782"/>
                </a:solidFill>
                <a:latin typeface="Arial"/>
              </a:rPr>
              <a:t>against $370 on the quote</a:t>
            </a:r>
          </a:p>
        </p:txBody>
      </p:sp>
      <p:sp>
        <p:nvSpPr>
          <p:cNvPr id="14" name="TextBox 13"/>
          <p:cNvSpPr txBox="1"/>
          <p:nvPr/>
        </p:nvSpPr>
        <p:spPr>
          <a:xfrm>
            <a:off x="8903741" y="2286000"/>
            <a:ext cx="2464993" cy="731520"/>
          </a:xfrm>
          <a:prstGeom prst="rect">
            <a:avLst/>
          </a:prstGeom>
          <a:noFill/>
        </p:spPr>
        <p:txBody>
          <a:bodyPr wrap="square" anchor="t" lIns="0" rIns="0" tIns="0" bIns="0">
            <a:spAutoFit/>
          </a:bodyPr>
          <a:lstStyle/>
          <a:p>
            <a:pPr algn="l">
              <a:lnSpc>
                <a:spcPct val="100000"/>
              </a:lnSpc>
              <a:spcBef>
                <a:spcPts val="0"/>
              </a:spcBef>
              <a:spcAft>
                <a:spcPts val="0"/>
              </a:spcAft>
            </a:pPr>
            <a:r>
              <a:rPr sz="4000" b="0">
                <a:solidFill>
                  <a:srgbClr val="2B8A9E"/>
                </a:solidFill>
                <a:latin typeface="Georgia"/>
              </a:rPr>
              <a:t>0</a:t>
            </a:r>
          </a:p>
        </p:txBody>
      </p:sp>
      <p:sp>
        <p:nvSpPr>
          <p:cNvPr id="15" name="TextBox 14"/>
          <p:cNvSpPr txBox="1"/>
          <p:nvPr/>
        </p:nvSpPr>
        <p:spPr>
          <a:xfrm>
            <a:off x="8903741" y="2971800"/>
            <a:ext cx="2282113" cy="256032"/>
          </a:xfrm>
          <a:prstGeom prst="rect">
            <a:avLst/>
          </a:prstGeom>
          <a:noFill/>
        </p:spPr>
        <p:txBody>
          <a:bodyPr wrap="square" anchor="t" lIns="0" rIns="0" tIns="0" bIns="0">
            <a:spAutoFit/>
          </a:bodyPr>
          <a:lstStyle/>
          <a:p>
            <a:pPr algn="l">
              <a:lnSpc>
                <a:spcPct val="100000"/>
              </a:lnSpc>
              <a:spcBef>
                <a:spcPts val="0"/>
              </a:spcBef>
              <a:spcAft>
                <a:spcPts val="0"/>
              </a:spcAft>
            </a:pPr>
            <a:r>
              <a:rPr sz="1300" b="1">
                <a:solidFill>
                  <a:srgbClr val="121E25"/>
                </a:solidFill>
                <a:latin typeface="Arial"/>
              </a:rPr>
              <a:t>gateways needed</a:t>
            </a:r>
          </a:p>
        </p:txBody>
      </p:sp>
      <p:sp>
        <p:nvSpPr>
          <p:cNvPr id="16" name="TextBox 15"/>
          <p:cNvSpPr txBox="1"/>
          <p:nvPr/>
        </p:nvSpPr>
        <p:spPr>
          <a:xfrm>
            <a:off x="8903741" y="3255264"/>
            <a:ext cx="2236393" cy="457200"/>
          </a:xfrm>
          <a:prstGeom prst="rect">
            <a:avLst/>
          </a:prstGeom>
          <a:noFill/>
        </p:spPr>
        <p:txBody>
          <a:bodyPr wrap="square" anchor="t" lIns="0" rIns="0" tIns="0" bIns="0">
            <a:spAutoFit/>
          </a:bodyPr>
          <a:lstStyle/>
          <a:p>
            <a:pPr algn="l">
              <a:lnSpc>
                <a:spcPct val="125000"/>
              </a:lnSpc>
              <a:spcBef>
                <a:spcPts val="0"/>
              </a:spcBef>
              <a:spcAft>
                <a:spcPts val="0"/>
              </a:spcAft>
            </a:pPr>
            <a:r>
              <a:rPr sz="1150" b="0">
                <a:solidFill>
                  <a:srgbClr val="637782"/>
                </a:solidFill>
                <a:latin typeface="Arial"/>
              </a:rPr>
              <a:t>WiFi is built into the board</a:t>
            </a:r>
          </a:p>
        </p:txBody>
      </p:sp>
      <p:sp>
        <p:nvSpPr>
          <p:cNvPr id="17" name="Rectangle 16"/>
          <p:cNvSpPr/>
          <p:nvPr/>
        </p:nvSpPr>
        <p:spPr>
          <a:xfrm>
            <a:off x="822960" y="3977639"/>
            <a:ext cx="10545775" cy="13716"/>
          </a:xfrm>
          <a:prstGeom prst="rect">
            <a:avLst/>
          </a:prstGeom>
          <a:solidFill>
            <a:srgbClr val="DD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2960" y="4343400"/>
            <a:ext cx="2362123" cy="960120"/>
          </a:xfrm>
          <a:prstGeom prst="roundRect">
            <a:avLst>
              <a:gd name="adj" fmla="val 3000"/>
            </a:avLst>
          </a:prstGeom>
          <a:solidFill>
            <a:srgbClr val="F0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526280"/>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450" b="1">
                <a:solidFill>
                  <a:srgbClr val="121E25"/>
                </a:solidFill>
                <a:latin typeface="Arial"/>
              </a:rPr>
              <a:t>Probe</a:t>
            </a:r>
          </a:p>
        </p:txBody>
      </p:sp>
      <p:sp>
        <p:nvSpPr>
          <p:cNvPr id="20" name="TextBox 19"/>
          <p:cNvSpPr txBox="1"/>
          <p:nvPr/>
        </p:nvSpPr>
        <p:spPr>
          <a:xfrm>
            <a:off x="1051560" y="4828032"/>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a:solidFill>
                  <a:srgbClr val="637782"/>
                </a:solidFill>
                <a:latin typeface="Arial"/>
              </a:rPr>
              <a:t>in the freezer</a:t>
            </a:r>
          </a:p>
        </p:txBody>
      </p:sp>
      <p:sp>
        <p:nvSpPr>
          <p:cNvPr id="21" name="TextBox 20"/>
          <p:cNvSpPr txBox="1"/>
          <p:nvPr/>
        </p:nvSpPr>
        <p:spPr>
          <a:xfrm>
            <a:off x="3185083" y="4617720"/>
            <a:ext cx="365760" cy="274320"/>
          </a:xfrm>
          <a:prstGeom prst="rect">
            <a:avLst/>
          </a:prstGeom>
          <a:noFill/>
        </p:spPr>
        <p:txBody>
          <a:bodyPr wrap="square" anchor="t" lIns="0" rIns="0" tIns="0" bIns="0">
            <a:spAutoFit/>
          </a:bodyPr>
          <a:lstStyle/>
          <a:p>
            <a:pPr algn="ctr">
              <a:lnSpc>
                <a:spcPct val="100000"/>
              </a:lnSpc>
              <a:spcBef>
                <a:spcPts val="0"/>
              </a:spcBef>
              <a:spcAft>
                <a:spcPts val="0"/>
              </a:spcAft>
            </a:pPr>
            <a:r>
              <a:rPr sz="1600" b="0">
                <a:solidFill>
                  <a:srgbClr val="9EAFB7"/>
                </a:solidFill>
                <a:latin typeface="Arial"/>
              </a:rPr>
              <a:t>→</a:t>
            </a:r>
          </a:p>
        </p:txBody>
      </p:sp>
      <p:sp>
        <p:nvSpPr>
          <p:cNvPr id="22" name="Rounded Rectangle 21"/>
          <p:cNvSpPr/>
          <p:nvPr/>
        </p:nvSpPr>
        <p:spPr>
          <a:xfrm>
            <a:off x="3550843" y="4343400"/>
            <a:ext cx="2362123" cy="960120"/>
          </a:xfrm>
          <a:prstGeom prst="roundRect">
            <a:avLst>
              <a:gd name="adj" fmla="val 3000"/>
            </a:avLst>
          </a:prstGeom>
          <a:solidFill>
            <a:srgbClr val="F0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79443" y="4526280"/>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450" b="1">
                <a:solidFill>
                  <a:srgbClr val="121E25"/>
                </a:solidFill>
                <a:latin typeface="Arial"/>
              </a:rPr>
              <a:t>Broker</a:t>
            </a:r>
          </a:p>
        </p:txBody>
      </p:sp>
      <p:sp>
        <p:nvSpPr>
          <p:cNvPr id="24" name="TextBox 23"/>
          <p:cNvSpPr txBox="1"/>
          <p:nvPr/>
        </p:nvSpPr>
        <p:spPr>
          <a:xfrm>
            <a:off x="3779443" y="4828032"/>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a:solidFill>
                  <a:srgbClr val="637782"/>
                </a:solidFill>
                <a:latin typeface="Arial"/>
              </a:rPr>
              <a:t>authenticated</a:t>
            </a:r>
          </a:p>
        </p:txBody>
      </p:sp>
      <p:sp>
        <p:nvSpPr>
          <p:cNvPr id="25" name="TextBox 24"/>
          <p:cNvSpPr txBox="1"/>
          <p:nvPr/>
        </p:nvSpPr>
        <p:spPr>
          <a:xfrm>
            <a:off x="5912967" y="4617720"/>
            <a:ext cx="365760" cy="274320"/>
          </a:xfrm>
          <a:prstGeom prst="rect">
            <a:avLst/>
          </a:prstGeom>
          <a:noFill/>
        </p:spPr>
        <p:txBody>
          <a:bodyPr wrap="square" anchor="t" lIns="0" rIns="0" tIns="0" bIns="0">
            <a:spAutoFit/>
          </a:bodyPr>
          <a:lstStyle/>
          <a:p>
            <a:pPr algn="ctr">
              <a:lnSpc>
                <a:spcPct val="100000"/>
              </a:lnSpc>
              <a:spcBef>
                <a:spcPts val="0"/>
              </a:spcBef>
              <a:spcAft>
                <a:spcPts val="0"/>
              </a:spcAft>
            </a:pPr>
            <a:r>
              <a:rPr sz="1600" b="0">
                <a:solidFill>
                  <a:srgbClr val="9EAFB7"/>
                </a:solidFill>
                <a:latin typeface="Arial"/>
              </a:rPr>
              <a:t>→</a:t>
            </a:r>
          </a:p>
        </p:txBody>
      </p:sp>
      <p:sp>
        <p:nvSpPr>
          <p:cNvPr id="26" name="Rounded Rectangle 25"/>
          <p:cNvSpPr/>
          <p:nvPr/>
        </p:nvSpPr>
        <p:spPr>
          <a:xfrm>
            <a:off x="6278727" y="4343400"/>
            <a:ext cx="2362123" cy="960120"/>
          </a:xfrm>
          <a:prstGeom prst="roundRect">
            <a:avLst>
              <a:gd name="adj" fmla="val 3000"/>
            </a:avLst>
          </a:prstGeom>
          <a:solidFill>
            <a:srgbClr val="F0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7327" y="4526280"/>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450" b="1">
                <a:solidFill>
                  <a:srgbClr val="121E25"/>
                </a:solidFill>
                <a:latin typeface="Arial"/>
              </a:rPr>
              <a:t>Database</a:t>
            </a:r>
          </a:p>
        </p:txBody>
      </p:sp>
      <p:sp>
        <p:nvSpPr>
          <p:cNvPr id="28" name="TextBox 27"/>
          <p:cNvSpPr txBox="1"/>
          <p:nvPr/>
        </p:nvSpPr>
        <p:spPr>
          <a:xfrm>
            <a:off x="6507327" y="4828032"/>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a:solidFill>
                  <a:srgbClr val="637782"/>
                </a:solidFill>
                <a:latin typeface="Arial"/>
              </a:rPr>
              <a:t>permanent record</a:t>
            </a:r>
          </a:p>
        </p:txBody>
      </p:sp>
      <p:sp>
        <p:nvSpPr>
          <p:cNvPr id="29" name="TextBox 28"/>
          <p:cNvSpPr txBox="1"/>
          <p:nvPr/>
        </p:nvSpPr>
        <p:spPr>
          <a:xfrm>
            <a:off x="8640851" y="4617720"/>
            <a:ext cx="365760" cy="274320"/>
          </a:xfrm>
          <a:prstGeom prst="rect">
            <a:avLst/>
          </a:prstGeom>
          <a:noFill/>
        </p:spPr>
        <p:txBody>
          <a:bodyPr wrap="square" anchor="t" lIns="0" rIns="0" tIns="0" bIns="0">
            <a:spAutoFit/>
          </a:bodyPr>
          <a:lstStyle/>
          <a:p>
            <a:pPr algn="ctr">
              <a:lnSpc>
                <a:spcPct val="100000"/>
              </a:lnSpc>
              <a:spcBef>
                <a:spcPts val="0"/>
              </a:spcBef>
              <a:spcAft>
                <a:spcPts val="0"/>
              </a:spcAft>
            </a:pPr>
            <a:r>
              <a:rPr sz="1600" b="0">
                <a:solidFill>
                  <a:srgbClr val="9EAFB7"/>
                </a:solidFill>
                <a:latin typeface="Arial"/>
              </a:rPr>
              <a:t>→</a:t>
            </a:r>
          </a:p>
        </p:txBody>
      </p:sp>
      <p:sp>
        <p:nvSpPr>
          <p:cNvPr id="30" name="Rounded Rectangle 29"/>
          <p:cNvSpPr/>
          <p:nvPr/>
        </p:nvSpPr>
        <p:spPr>
          <a:xfrm>
            <a:off x="9006611" y="4343400"/>
            <a:ext cx="2362123" cy="960120"/>
          </a:xfrm>
          <a:prstGeom prst="roundRect">
            <a:avLst>
              <a:gd name="adj" fmla="val 3000"/>
            </a:avLst>
          </a:prstGeom>
          <a:solidFill>
            <a:srgbClr val="F0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35211" y="4526280"/>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450" b="1">
                <a:solidFill>
                  <a:srgbClr val="121E25"/>
                </a:solidFill>
                <a:latin typeface="Arial"/>
              </a:rPr>
              <a:t>Dashboard</a:t>
            </a:r>
          </a:p>
        </p:txBody>
      </p:sp>
      <p:sp>
        <p:nvSpPr>
          <p:cNvPr id="32" name="TextBox 31"/>
          <p:cNvSpPr txBox="1"/>
          <p:nvPr/>
        </p:nvSpPr>
        <p:spPr>
          <a:xfrm>
            <a:off x="9235211" y="4828032"/>
            <a:ext cx="1996363"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a:solidFill>
                  <a:srgbClr val="637782"/>
                </a:solidFill>
                <a:latin typeface="Arial"/>
              </a:rPr>
              <a:t>judges + alerts</a:t>
            </a:r>
          </a:p>
        </p:txBody>
      </p:sp>
      <p:sp>
        <p:nvSpPr>
          <p:cNvPr id="33" name="TextBox 32"/>
          <p:cNvSpPr txBox="1"/>
          <p:nvPr/>
        </p:nvSpPr>
        <p:spPr>
          <a:xfrm>
            <a:off x="822960" y="5623560"/>
            <a:ext cx="10545775" cy="68580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637782"/>
                </a:solidFill>
                <a:latin typeface="Arial"/>
              </a:rPr>
              <a:t>The probe never decides what counts as an emergency. It reports, the system judges. That's why one platform can watch fresh poultry at 30°F and a freezer at −5°F without either one getting the other's rules.</a:t>
            </a:r>
          </a:p>
        </p:txBody>
      </p:sp>
      <p:sp>
        <p:nvSpPr>
          <p:cNvPr id="34" name="TextBox 33"/>
          <p:cNvSpPr txBox="1"/>
          <p:nvPr/>
        </p:nvSpPr>
        <p:spPr>
          <a:xfrm>
            <a:off x="822960" y="6199632"/>
            <a:ext cx="10545775" cy="292608"/>
          </a:xfrm>
          <a:prstGeom prst="rect">
            <a:avLst/>
          </a:prstGeom>
          <a:noFill/>
        </p:spPr>
        <p:txBody>
          <a:bodyPr wrap="square" anchor="t" lIns="0" rIns="0" tIns="0" bIns="0">
            <a:spAutoFit/>
          </a:bodyPr>
          <a:lstStyle/>
          <a:p>
            <a:pPr algn="l">
              <a:lnSpc>
                <a:spcPct val="100000"/>
              </a:lnSpc>
              <a:spcBef>
                <a:spcPts val="0"/>
              </a:spcBef>
              <a:spcAft>
                <a:spcPts val="0"/>
              </a:spcAft>
            </a:pPr>
            <a:r>
              <a:rPr sz="1050" b="0">
                <a:solidFill>
                  <a:srgbClr val="9EAFB7"/>
                </a:solidFill>
                <a:latin typeface="Arial"/>
              </a:rPr>
              <a:t>Built on PostgreSQL, MQTT and Grafana — all open source, all industry standard.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B22"/>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02</a:t>
            </a:r>
          </a:p>
          <a:p>
            <a:pPr algn="l">
              <a:lnSpc>
                <a:spcPct val="100000"/>
              </a:lnSpc>
              <a:spcBef>
                <a:spcPts val="0"/>
              </a:spcBef>
              <a:spcAft>
                <a:spcPts val="0"/>
              </a:spcAft>
            </a:pPr>
            <a:r>
              <a:rPr sz="1200" b="0">
                <a:solidFill>
                  <a:srgbClr val="9EAFB7"/>
                </a:solidFill>
                <a:latin typeface="Arial"/>
              </a:rPr>
              <a:t>   LIVE</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FAFBFC"/>
                </a:solidFill>
                <a:latin typeface="Georgia"/>
              </a:rPr>
              <a:t>Watch it work</a:t>
            </a:r>
          </a:p>
        </p:txBody>
      </p:sp>
      <p:sp>
        <p:nvSpPr>
          <p:cNvPr id="5" name="Rectangle 4"/>
          <p:cNvSpPr/>
          <p:nvPr/>
        </p:nvSpPr>
        <p:spPr>
          <a:xfrm>
            <a:off x="822960" y="2587752"/>
            <a:ext cx="45720" cy="566928"/>
          </a:xfrm>
          <a:prstGeom prst="rect">
            <a:avLst/>
          </a:prstGeom>
          <a:solidFill>
            <a:srgbClr val="7FC4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514600"/>
            <a:ext cx="3291840" cy="365760"/>
          </a:xfrm>
          <a:prstGeom prst="rect">
            <a:avLst/>
          </a:prstGeom>
          <a:noFill/>
        </p:spPr>
        <p:txBody>
          <a:bodyPr wrap="square" anchor="t" lIns="0" rIns="0" tIns="0" bIns="0">
            <a:spAutoFit/>
          </a:bodyPr>
          <a:lstStyle/>
          <a:p>
            <a:pPr algn="l">
              <a:lnSpc>
                <a:spcPct val="100000"/>
              </a:lnSpc>
              <a:spcBef>
                <a:spcPts val="0"/>
              </a:spcBef>
              <a:spcAft>
                <a:spcPts val="0"/>
              </a:spcAft>
            </a:pPr>
            <a:r>
              <a:rPr sz="2000" b="0">
                <a:solidFill>
                  <a:srgbClr val="FAFBFC"/>
                </a:solidFill>
                <a:latin typeface="Georgia"/>
              </a:rPr>
              <a:t>Chilled water</a:t>
            </a:r>
          </a:p>
        </p:txBody>
      </p:sp>
      <p:sp>
        <p:nvSpPr>
          <p:cNvPr id="7" name="TextBox 6"/>
          <p:cNvSpPr txBox="1"/>
          <p:nvPr/>
        </p:nvSpPr>
        <p:spPr>
          <a:xfrm>
            <a:off x="4754880" y="2551176"/>
            <a:ext cx="6400800" cy="731520"/>
          </a:xfrm>
          <a:prstGeom prst="rect">
            <a:avLst/>
          </a:prstGeom>
          <a:noFill/>
        </p:spPr>
        <p:txBody>
          <a:bodyPr wrap="square" anchor="t" lIns="0" rIns="0" tIns="0" bIns="0">
            <a:spAutoFit/>
          </a:bodyPr>
          <a:lstStyle/>
          <a:p>
            <a:pPr algn="l">
              <a:lnSpc>
                <a:spcPct val="135000"/>
              </a:lnSpc>
              <a:spcBef>
                <a:spcPts val="0"/>
              </a:spcBef>
              <a:spcAft>
                <a:spcPts val="0"/>
              </a:spcAft>
            </a:pPr>
            <a:r>
              <a:rPr sz="1400" b="0">
                <a:solidFill>
                  <a:srgbClr val="B4C5CC"/>
                </a:solidFill>
                <a:latin typeface="Arial"/>
              </a:rPr>
              <a:t>Everything green.</a:t>
            </a:r>
          </a:p>
        </p:txBody>
      </p:sp>
      <p:sp>
        <p:nvSpPr>
          <p:cNvPr id="8" name="Rectangle 7"/>
          <p:cNvSpPr/>
          <p:nvPr/>
        </p:nvSpPr>
        <p:spPr>
          <a:xfrm>
            <a:off x="822960" y="3730752"/>
            <a:ext cx="45720" cy="566928"/>
          </a:xfrm>
          <a:prstGeom prst="rect">
            <a:avLst/>
          </a:prstGeom>
          <a:solidFill>
            <a:srgbClr val="E89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3657600"/>
            <a:ext cx="3291840" cy="365760"/>
          </a:xfrm>
          <a:prstGeom prst="rect">
            <a:avLst/>
          </a:prstGeom>
          <a:noFill/>
        </p:spPr>
        <p:txBody>
          <a:bodyPr wrap="square" anchor="t" lIns="0" rIns="0" tIns="0" bIns="0">
            <a:spAutoFit/>
          </a:bodyPr>
          <a:lstStyle/>
          <a:p>
            <a:pPr algn="l">
              <a:lnSpc>
                <a:spcPct val="100000"/>
              </a:lnSpc>
              <a:spcBef>
                <a:spcPts val="0"/>
              </a:spcBef>
              <a:spcAft>
                <a:spcPts val="0"/>
              </a:spcAft>
            </a:pPr>
            <a:r>
              <a:rPr sz="2000" b="0">
                <a:solidFill>
                  <a:srgbClr val="FAFBFC"/>
                </a:solidFill>
                <a:latin typeface="Georgia"/>
              </a:rPr>
              <a:t>Hot water</a:t>
            </a:r>
          </a:p>
        </p:txBody>
      </p:sp>
      <p:sp>
        <p:nvSpPr>
          <p:cNvPr id="10" name="TextBox 9"/>
          <p:cNvSpPr txBox="1"/>
          <p:nvPr/>
        </p:nvSpPr>
        <p:spPr>
          <a:xfrm>
            <a:off x="4754880" y="3694176"/>
            <a:ext cx="6400800" cy="731520"/>
          </a:xfrm>
          <a:prstGeom prst="rect">
            <a:avLst/>
          </a:prstGeom>
          <a:noFill/>
        </p:spPr>
        <p:txBody>
          <a:bodyPr wrap="square" anchor="t" lIns="0" rIns="0" tIns="0" bIns="0">
            <a:spAutoFit/>
          </a:bodyPr>
          <a:lstStyle/>
          <a:p>
            <a:pPr algn="l">
              <a:lnSpc>
                <a:spcPct val="135000"/>
              </a:lnSpc>
              <a:spcBef>
                <a:spcPts val="0"/>
              </a:spcBef>
              <a:spcAft>
                <a:spcPts val="0"/>
              </a:spcAft>
            </a:pPr>
            <a:r>
              <a:rPr sz="1400" b="0">
                <a:solidFill>
                  <a:srgbClr val="B4C5CC"/>
                </a:solidFill>
                <a:latin typeface="Arial"/>
              </a:rPr>
              <a:t>Crosses the limit in seconds. Panel goes red, Slack fires.</a:t>
            </a:r>
          </a:p>
        </p:txBody>
      </p:sp>
      <p:sp>
        <p:nvSpPr>
          <p:cNvPr id="11" name="Rectangle 10"/>
          <p:cNvSpPr/>
          <p:nvPr/>
        </p:nvSpPr>
        <p:spPr>
          <a:xfrm>
            <a:off x="822960" y="4873752"/>
            <a:ext cx="45720" cy="566928"/>
          </a:xfrm>
          <a:prstGeom prst="rect">
            <a:avLst/>
          </a:prstGeom>
          <a:solidFill>
            <a:srgbClr val="C46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800600"/>
            <a:ext cx="3291840" cy="365760"/>
          </a:xfrm>
          <a:prstGeom prst="rect">
            <a:avLst/>
          </a:prstGeom>
          <a:noFill/>
        </p:spPr>
        <p:txBody>
          <a:bodyPr wrap="square" anchor="t" lIns="0" rIns="0" tIns="0" bIns="0">
            <a:spAutoFit/>
          </a:bodyPr>
          <a:lstStyle/>
          <a:p>
            <a:pPr algn="l">
              <a:lnSpc>
                <a:spcPct val="100000"/>
              </a:lnSpc>
              <a:spcBef>
                <a:spcPts val="0"/>
              </a:spcBef>
              <a:spcAft>
                <a:spcPts val="0"/>
              </a:spcAft>
            </a:pPr>
            <a:r>
              <a:rPr sz="2000" b="0">
                <a:solidFill>
                  <a:srgbClr val="FAFBFC"/>
                </a:solidFill>
                <a:latin typeface="Georgia"/>
              </a:rPr>
              <a:t>Pull the probe out</a:t>
            </a:r>
          </a:p>
        </p:txBody>
      </p:sp>
      <p:sp>
        <p:nvSpPr>
          <p:cNvPr id="13" name="TextBox 12"/>
          <p:cNvSpPr txBox="1"/>
          <p:nvPr/>
        </p:nvSpPr>
        <p:spPr>
          <a:xfrm>
            <a:off x="4754880" y="4837176"/>
            <a:ext cx="6400800" cy="731520"/>
          </a:xfrm>
          <a:prstGeom prst="rect">
            <a:avLst/>
          </a:prstGeom>
          <a:noFill/>
        </p:spPr>
        <p:txBody>
          <a:bodyPr wrap="square" anchor="t" lIns="0" rIns="0" tIns="0" bIns="0">
            <a:spAutoFit/>
          </a:bodyPr>
          <a:lstStyle/>
          <a:p>
            <a:pPr algn="l">
              <a:lnSpc>
                <a:spcPct val="135000"/>
              </a:lnSpc>
              <a:spcBef>
                <a:spcPts val="0"/>
              </a:spcBef>
              <a:spcAft>
                <a:spcPts val="0"/>
              </a:spcAft>
            </a:pPr>
            <a:r>
              <a:rPr sz="1400" b="0">
                <a:solidFill>
                  <a:srgbClr val="B4C5CC"/>
                </a:solidFill>
                <a:latin typeface="Arial"/>
              </a:rPr>
              <a:t>Reports a sensor fault, then marks the unit offline.
It knows the difference between broken and disconnected.</a:t>
            </a:r>
          </a:p>
        </p:txBody>
      </p:sp>
      <p:sp>
        <p:nvSpPr>
          <p:cNvPr id="14" name="Rectangle 13"/>
          <p:cNvSpPr/>
          <p:nvPr/>
        </p:nvSpPr>
        <p:spPr>
          <a:xfrm>
            <a:off x="822960" y="5806440"/>
            <a:ext cx="10545775" cy="13716"/>
          </a:xfrm>
          <a:prstGeom prst="rect">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6035040"/>
            <a:ext cx="10545775" cy="365760"/>
          </a:xfrm>
          <a:prstGeom prst="rect">
            <a:avLst/>
          </a:prstGeom>
          <a:noFill/>
        </p:spPr>
        <p:txBody>
          <a:bodyPr wrap="square" anchor="t" lIns="0" rIns="0" tIns="0" bIns="0">
            <a:spAutoFit/>
          </a:bodyPr>
          <a:lstStyle/>
          <a:p>
            <a:pPr algn="l">
              <a:lnSpc>
                <a:spcPct val="100000"/>
              </a:lnSpc>
              <a:spcBef>
                <a:spcPts val="0"/>
              </a:spcBef>
              <a:spcAft>
                <a:spcPts val="0"/>
              </a:spcAft>
            </a:pPr>
            <a:r>
              <a:rPr sz="1300" b="1">
                <a:solidFill>
                  <a:srgbClr val="7FC4D2"/>
                </a:solidFill>
                <a:latin typeface="Arial"/>
              </a:rPr>
              <a:t>Every number on screen is real. Nothing here is a mock-up.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03</a:t>
            </a:r>
          </a:p>
          <a:p>
            <a:pPr algn="l">
              <a:lnSpc>
                <a:spcPct val="100000"/>
              </a:lnSpc>
              <a:spcBef>
                <a:spcPts val="0"/>
              </a:spcBef>
              <a:spcAft>
                <a:spcPts val="0"/>
              </a:spcAft>
            </a:pPr>
            <a:r>
              <a:rPr sz="1200" b="0">
                <a:solidFill>
                  <a:srgbClr val="637782"/>
                </a:solidFill>
                <a:latin typeface="Arial"/>
              </a:rPr>
              <a:t>   ALERTING</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121E25"/>
                </a:solidFill>
                <a:latin typeface="Georgia"/>
              </a:rPr>
              <a:t>Three failures, not one</a:t>
            </a:r>
          </a:p>
        </p:txBody>
      </p:sp>
      <p:sp>
        <p:nvSpPr>
          <p:cNvPr id="5" name="Rectangle 4"/>
          <p:cNvSpPr/>
          <p:nvPr/>
        </p:nvSpPr>
        <p:spPr>
          <a:xfrm>
            <a:off x="822960" y="2212848"/>
            <a:ext cx="45720" cy="868680"/>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231136"/>
            <a:ext cx="4023360" cy="320040"/>
          </a:xfrm>
          <a:prstGeom prst="rect">
            <a:avLst/>
          </a:prstGeom>
          <a:noFill/>
        </p:spPr>
        <p:txBody>
          <a:bodyPr wrap="square" anchor="t" lIns="0" rIns="0" tIns="0" bIns="0">
            <a:spAutoFit/>
          </a:bodyPr>
          <a:lstStyle/>
          <a:p>
            <a:pPr algn="l">
              <a:lnSpc>
                <a:spcPct val="100000"/>
              </a:lnSpc>
              <a:spcBef>
                <a:spcPts val="0"/>
              </a:spcBef>
              <a:spcAft>
                <a:spcPts val="0"/>
              </a:spcAft>
            </a:pPr>
            <a:r>
              <a:rPr sz="1700" b="1">
                <a:solidFill>
                  <a:srgbClr val="121E25"/>
                </a:solidFill>
                <a:latin typeface="Arial"/>
              </a:rPr>
              <a:t>Too warm, or too cold</a:t>
            </a:r>
          </a:p>
        </p:txBody>
      </p:sp>
      <p:sp>
        <p:nvSpPr>
          <p:cNvPr id="7" name="TextBox 6"/>
          <p:cNvSpPr txBox="1"/>
          <p:nvPr/>
        </p:nvSpPr>
        <p:spPr>
          <a:xfrm>
            <a:off x="1143000" y="2578608"/>
            <a:ext cx="3931920" cy="502920"/>
          </a:xfrm>
          <a:prstGeom prst="rect">
            <a:avLst/>
          </a:prstGeom>
          <a:noFill/>
        </p:spPr>
        <p:txBody>
          <a:bodyPr wrap="square" anchor="t" lIns="0" rIns="0" tIns="0" bIns="0">
            <a:spAutoFit/>
          </a:bodyPr>
          <a:lstStyle/>
          <a:p>
            <a:pPr algn="l">
              <a:lnSpc>
                <a:spcPct val="100000"/>
              </a:lnSpc>
              <a:spcBef>
                <a:spcPts val="0"/>
              </a:spcBef>
              <a:spcAft>
                <a:spcPts val="0"/>
              </a:spcAft>
            </a:pPr>
            <a:r>
              <a:rPr sz="100" b="0">
                <a:solidFill>
                  <a:srgbClr val="121E25"/>
                </a:solidFill>
                <a:latin typeface="Arial"/>
              </a:rPr>
              <a:t/>
            </a:r>
          </a:p>
        </p:txBody>
      </p:sp>
      <p:sp>
        <p:nvSpPr>
          <p:cNvPr id="8" name="TextBox 7"/>
          <p:cNvSpPr txBox="1"/>
          <p:nvPr/>
        </p:nvSpPr>
        <p:spPr>
          <a:xfrm>
            <a:off x="5486400" y="2267712"/>
            <a:ext cx="5852160" cy="77724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637782"/>
                </a:solidFill>
                <a:latin typeface="Arial"/>
              </a:rPr>
              <a:t>Each unit judged against its own limits. Fresh poultry at 27–34°F and a freezer at −9 to 0°F run on the same rule.</a:t>
            </a:r>
          </a:p>
        </p:txBody>
      </p:sp>
      <p:sp>
        <p:nvSpPr>
          <p:cNvPr id="9" name="Rectangle 8"/>
          <p:cNvSpPr/>
          <p:nvPr/>
        </p:nvSpPr>
        <p:spPr>
          <a:xfrm>
            <a:off x="822960" y="3291840"/>
            <a:ext cx="45720" cy="868680"/>
          </a:xfrm>
          <a:prstGeom prst="rect">
            <a:avLst/>
          </a:prstGeom>
          <a:solidFill>
            <a:srgbClr val="C46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310128"/>
            <a:ext cx="4023360" cy="320040"/>
          </a:xfrm>
          <a:prstGeom prst="rect">
            <a:avLst/>
          </a:prstGeom>
          <a:noFill/>
        </p:spPr>
        <p:txBody>
          <a:bodyPr wrap="square" anchor="t" lIns="0" rIns="0" tIns="0" bIns="0">
            <a:spAutoFit/>
          </a:bodyPr>
          <a:lstStyle/>
          <a:p>
            <a:pPr algn="l">
              <a:lnSpc>
                <a:spcPct val="100000"/>
              </a:lnSpc>
              <a:spcBef>
                <a:spcPts val="0"/>
              </a:spcBef>
              <a:spcAft>
                <a:spcPts val="0"/>
              </a:spcAft>
            </a:pPr>
            <a:r>
              <a:rPr sz="1700" b="1">
                <a:solidFill>
                  <a:srgbClr val="121E25"/>
                </a:solidFill>
                <a:latin typeface="Arial"/>
              </a:rPr>
              <a:t>Sensor stops reporting</a:t>
            </a:r>
          </a:p>
        </p:txBody>
      </p:sp>
      <p:sp>
        <p:nvSpPr>
          <p:cNvPr id="11" name="TextBox 10"/>
          <p:cNvSpPr txBox="1"/>
          <p:nvPr/>
        </p:nvSpPr>
        <p:spPr>
          <a:xfrm>
            <a:off x="1143000" y="3657600"/>
            <a:ext cx="3931920" cy="502920"/>
          </a:xfrm>
          <a:prstGeom prst="rect">
            <a:avLst/>
          </a:prstGeom>
          <a:noFill/>
        </p:spPr>
        <p:txBody>
          <a:bodyPr wrap="square" anchor="t" lIns="0" rIns="0" tIns="0" bIns="0">
            <a:spAutoFit/>
          </a:bodyPr>
          <a:lstStyle/>
          <a:p>
            <a:pPr algn="l">
              <a:lnSpc>
                <a:spcPct val="100000"/>
              </a:lnSpc>
              <a:spcBef>
                <a:spcPts val="0"/>
              </a:spcBef>
              <a:spcAft>
                <a:spcPts val="0"/>
              </a:spcAft>
            </a:pPr>
            <a:r>
              <a:rPr sz="100" b="0">
                <a:solidFill>
                  <a:srgbClr val="121E25"/>
                </a:solidFill>
                <a:latin typeface="Arial"/>
              </a:rPr>
              <a:t/>
            </a:r>
          </a:p>
        </p:txBody>
      </p:sp>
      <p:sp>
        <p:nvSpPr>
          <p:cNvPr id="12" name="TextBox 11"/>
          <p:cNvSpPr txBox="1"/>
          <p:nvPr/>
        </p:nvSpPr>
        <p:spPr>
          <a:xfrm>
            <a:off x="5486400" y="3346704"/>
            <a:ext cx="5852160" cy="77724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637782"/>
                </a:solidFill>
                <a:latin typeface="Arial"/>
              </a:rPr>
              <a:t>A dead sensor sends nothing, so a temperature rule has nothing to fire on. This one watches for the silence.</a:t>
            </a:r>
          </a:p>
        </p:txBody>
      </p:sp>
      <p:sp>
        <p:nvSpPr>
          <p:cNvPr id="13" name="Rectangle 12"/>
          <p:cNvSpPr/>
          <p:nvPr/>
        </p:nvSpPr>
        <p:spPr>
          <a:xfrm>
            <a:off x="822960" y="4370832"/>
            <a:ext cx="45720" cy="8686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4389120"/>
            <a:ext cx="4023360" cy="320040"/>
          </a:xfrm>
          <a:prstGeom prst="rect">
            <a:avLst/>
          </a:prstGeom>
          <a:noFill/>
        </p:spPr>
        <p:txBody>
          <a:bodyPr wrap="square" anchor="t" lIns="0" rIns="0" tIns="0" bIns="0">
            <a:spAutoFit/>
          </a:bodyPr>
          <a:lstStyle/>
          <a:p>
            <a:pPr algn="l">
              <a:lnSpc>
                <a:spcPct val="100000"/>
              </a:lnSpc>
              <a:spcBef>
                <a:spcPts val="0"/>
              </a:spcBef>
              <a:spcAft>
                <a:spcPts val="0"/>
              </a:spcAft>
            </a:pPr>
            <a:r>
              <a:rPr sz="1700" b="1">
                <a:solidFill>
                  <a:srgbClr val="121E25"/>
                </a:solidFill>
                <a:latin typeface="Arial"/>
              </a:rPr>
              <a:t>Battery running down</a:t>
            </a:r>
          </a:p>
        </p:txBody>
      </p:sp>
      <p:sp>
        <p:nvSpPr>
          <p:cNvPr id="15" name="TextBox 14"/>
          <p:cNvSpPr txBox="1"/>
          <p:nvPr/>
        </p:nvSpPr>
        <p:spPr>
          <a:xfrm>
            <a:off x="1143000" y="4736592"/>
            <a:ext cx="3931920" cy="502920"/>
          </a:xfrm>
          <a:prstGeom prst="rect">
            <a:avLst/>
          </a:prstGeom>
          <a:noFill/>
        </p:spPr>
        <p:txBody>
          <a:bodyPr wrap="square" anchor="t" lIns="0" rIns="0" tIns="0" bIns="0">
            <a:spAutoFit/>
          </a:bodyPr>
          <a:lstStyle/>
          <a:p>
            <a:pPr algn="l">
              <a:lnSpc>
                <a:spcPct val="100000"/>
              </a:lnSpc>
              <a:spcBef>
                <a:spcPts val="0"/>
              </a:spcBef>
              <a:spcAft>
                <a:spcPts val="0"/>
              </a:spcAft>
            </a:pPr>
            <a:r>
              <a:rPr sz="100" b="0">
                <a:solidFill>
                  <a:srgbClr val="121E25"/>
                </a:solidFill>
                <a:latin typeface="Arial"/>
              </a:rPr>
              <a:t/>
            </a:r>
          </a:p>
        </p:txBody>
      </p:sp>
      <p:sp>
        <p:nvSpPr>
          <p:cNvPr id="16" name="TextBox 15"/>
          <p:cNvSpPr txBox="1"/>
          <p:nvPr/>
        </p:nvSpPr>
        <p:spPr>
          <a:xfrm>
            <a:off x="5486400" y="4425696"/>
            <a:ext cx="5852160" cy="77724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637782"/>
                </a:solidFill>
                <a:latin typeface="Arial"/>
              </a:rPr>
              <a:t>Flagged before it goes dark, so it's replaced on schedule instead of discovered after a loss.</a:t>
            </a:r>
          </a:p>
        </p:txBody>
      </p:sp>
      <p:sp>
        <p:nvSpPr>
          <p:cNvPr id="17" name="Rounded Rectangle 16"/>
          <p:cNvSpPr/>
          <p:nvPr/>
        </p:nvSpPr>
        <p:spPr>
          <a:xfrm>
            <a:off x="822960" y="5532120"/>
            <a:ext cx="10545775" cy="841248"/>
          </a:xfrm>
          <a:prstGeom prst="roundRect">
            <a:avLst>
              <a:gd name="adj" fmla="val 3000"/>
            </a:avLst>
          </a:prstGeom>
          <a:solidFill>
            <a:srgbClr val="F0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5687568"/>
            <a:ext cx="9814255" cy="548640"/>
          </a:xfrm>
          <a:prstGeom prst="rect">
            <a:avLst/>
          </a:prstGeom>
          <a:noFill/>
        </p:spPr>
        <p:txBody>
          <a:bodyPr wrap="square" anchor="t" lIns="0" rIns="0" tIns="0" bIns="0">
            <a:spAutoFit/>
          </a:bodyPr>
          <a:lstStyle/>
          <a:p>
            <a:pPr algn="l">
              <a:lnSpc>
                <a:spcPct val="100000"/>
              </a:lnSpc>
              <a:spcBef>
                <a:spcPts val="0"/>
              </a:spcBef>
              <a:spcAft>
                <a:spcPts val="0"/>
              </a:spcAft>
            </a:pPr>
            <a:r>
              <a:rPr sz="1400" b="1">
                <a:solidFill>
                  <a:srgbClr val="121E25"/>
                </a:solidFill>
                <a:latin typeface="Arial"/>
              </a:rPr>
              <a:t>Worth asking SmartSense: </a:t>
            </a:r>
          </a:p>
          <a:p>
            <a:pPr algn="l">
              <a:lnSpc>
                <a:spcPct val="100000"/>
              </a:lnSpc>
              <a:spcBef>
                <a:spcPts val="0"/>
              </a:spcBef>
              <a:spcAft>
                <a:spcPts val="0"/>
              </a:spcAft>
            </a:pPr>
            <a:r>
              <a:rPr sz="1400" b="0">
                <a:solidFill>
                  <a:srgbClr val="637782"/>
                </a:solidFill>
                <a:latin typeface="Arial"/>
              </a:rPr>
              <a:t>if a sensor dies at 2am, what tells you — and how long before you know?</a:t>
            </a:r>
          </a:p>
        </p:txBody>
      </p:sp>
      <p:sp>
        <p:nvSpPr>
          <p:cNvPr id="19" name="TextBox 18"/>
          <p:cNvSpPr txBox="1"/>
          <p:nvPr/>
        </p:nvSpPr>
        <p:spPr>
          <a:xfrm>
            <a:off x="822960" y="6199632"/>
            <a:ext cx="10545775" cy="292608"/>
          </a:xfrm>
          <a:prstGeom prst="rect">
            <a:avLst/>
          </a:prstGeom>
          <a:noFill/>
        </p:spPr>
        <p:txBody>
          <a:bodyPr wrap="square" anchor="t" lIns="0" rIns="0" tIns="0" bIns="0">
            <a:spAutoFit/>
          </a:bodyPr>
          <a:lstStyle/>
          <a:p>
            <a:pPr algn="l">
              <a:lnSpc>
                <a:spcPct val="100000"/>
              </a:lnSpc>
              <a:spcBef>
                <a:spcPts val="0"/>
              </a:spcBef>
              <a:spcAft>
                <a:spcPts val="0"/>
              </a:spcAft>
            </a:pPr>
            <a:r>
              <a:rPr sz="1050" b="0">
                <a:solidFill>
                  <a:srgbClr val="9EAFB7"/>
                </a:solidFill>
                <a:latin typeface="Arial"/>
              </a:rPr>
              <a:t>Alerts group by company and site, so each manager only gets their own.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04</a:t>
            </a:r>
          </a:p>
          <a:p>
            <a:pPr algn="l">
              <a:lnSpc>
                <a:spcPct val="100000"/>
              </a:lnSpc>
              <a:spcBef>
                <a:spcPts val="0"/>
              </a:spcBef>
              <a:spcAft>
                <a:spcPts val="0"/>
              </a:spcAft>
            </a:pPr>
            <a:r>
              <a:rPr sz="1200" b="0">
                <a:solidFill>
                  <a:srgbClr val="637782"/>
                </a:solidFill>
                <a:latin typeface="Arial"/>
              </a:rPr>
              <a:t>   COST</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121E25"/>
                </a:solidFill>
                <a:latin typeface="Georgia"/>
              </a:rPr>
              <a:t>Every line, both sides</a:t>
            </a:r>
          </a:p>
        </p:txBody>
      </p:sp>
      <p:sp>
        <p:nvSpPr>
          <p:cNvPr id="5" name="TextBox 4"/>
          <p:cNvSpPr txBox="1"/>
          <p:nvPr/>
        </p:nvSpPr>
        <p:spPr>
          <a:xfrm>
            <a:off x="822960" y="2121408"/>
            <a:ext cx="475488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1">
                <a:solidFill>
                  <a:srgbClr val="637782"/>
                </a:solidFill>
                <a:latin typeface="Arial"/>
              </a:rPr>
              <a:t>AUBURN WA — 15 MONITORING POINTS</a:t>
            </a:r>
          </a:p>
        </p:txBody>
      </p:sp>
      <p:sp>
        <p:nvSpPr>
          <p:cNvPr id="6" name="TextBox 5"/>
          <p:cNvSpPr txBox="1"/>
          <p:nvPr/>
        </p:nvSpPr>
        <p:spPr>
          <a:xfrm>
            <a:off x="5943600" y="2121408"/>
            <a:ext cx="219456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1">
                <a:solidFill>
                  <a:srgbClr val="C4622D"/>
                </a:solidFill>
                <a:latin typeface="Arial"/>
              </a:rPr>
              <a:t>SMARTSENSE</a:t>
            </a:r>
          </a:p>
        </p:txBody>
      </p:sp>
      <p:sp>
        <p:nvSpPr>
          <p:cNvPr id="7" name="TextBox 6"/>
          <p:cNvSpPr txBox="1"/>
          <p:nvPr/>
        </p:nvSpPr>
        <p:spPr>
          <a:xfrm>
            <a:off x="8503920" y="2121408"/>
            <a:ext cx="219456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1">
                <a:solidFill>
                  <a:srgbClr val="2B8A9E"/>
                </a:solidFill>
                <a:latin typeface="Arial"/>
              </a:rPr>
              <a:t>MINE</a:t>
            </a:r>
          </a:p>
        </p:txBody>
      </p:sp>
      <p:sp>
        <p:nvSpPr>
          <p:cNvPr id="8" name="Rectangle 7"/>
          <p:cNvSpPr/>
          <p:nvPr/>
        </p:nvSpPr>
        <p:spPr>
          <a:xfrm>
            <a:off x="822960" y="2395728"/>
            <a:ext cx="10545775" cy="13716"/>
          </a:xfrm>
          <a:prstGeom prst="rect">
            <a:avLst/>
          </a:prstGeom>
          <a:solidFill>
            <a:srgbClr val="DD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2032"/>
            <a:ext cx="4754880" cy="219456"/>
          </a:xfrm>
          <a:prstGeom prst="rect">
            <a:avLst/>
          </a:prstGeom>
          <a:noFill/>
        </p:spPr>
        <p:txBody>
          <a:bodyPr wrap="square" anchor="t" lIns="0" rIns="0" tIns="0" bIns="0">
            <a:spAutoFit/>
          </a:bodyPr>
          <a:lstStyle/>
          <a:p>
            <a:pPr algn="l">
              <a:lnSpc>
                <a:spcPct val="100000"/>
              </a:lnSpc>
              <a:spcBef>
                <a:spcPts val="0"/>
              </a:spcBef>
              <a:spcAft>
                <a:spcPts val="0"/>
              </a:spcAft>
            </a:pPr>
            <a:r>
              <a:rPr sz="950" b="1">
                <a:solidFill>
                  <a:srgbClr val="9EAFB7"/>
                </a:solidFill>
                <a:latin typeface="Arial"/>
              </a:rPr>
              <a:t>ONE-TIME HARDWARE</a:t>
            </a:r>
          </a:p>
        </p:txBody>
      </p:sp>
      <p:sp>
        <p:nvSpPr>
          <p:cNvPr id="10" name="TextBox 9"/>
          <p:cNvSpPr txBox="1"/>
          <p:nvPr/>
        </p:nvSpPr>
        <p:spPr>
          <a:xfrm>
            <a:off x="822960" y="2779776"/>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Gateways</a:t>
            </a:r>
          </a:p>
        </p:txBody>
      </p:sp>
      <p:sp>
        <p:nvSpPr>
          <p:cNvPr id="11" name="TextBox 10"/>
          <p:cNvSpPr txBox="1"/>
          <p:nvPr/>
        </p:nvSpPr>
        <p:spPr>
          <a:xfrm>
            <a:off x="3337560" y="2793492"/>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4 at $599 — proprietary radio</a:t>
            </a:r>
          </a:p>
        </p:txBody>
      </p:sp>
      <p:sp>
        <p:nvSpPr>
          <p:cNvPr id="12" name="TextBox 11"/>
          <p:cNvSpPr txBox="1"/>
          <p:nvPr/>
        </p:nvSpPr>
        <p:spPr>
          <a:xfrm>
            <a:off x="5943600" y="2770632"/>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$2,396</a:t>
            </a:r>
          </a:p>
        </p:txBody>
      </p:sp>
      <p:sp>
        <p:nvSpPr>
          <p:cNvPr id="13" name="TextBox 12"/>
          <p:cNvSpPr txBox="1"/>
          <p:nvPr/>
        </p:nvSpPr>
        <p:spPr>
          <a:xfrm>
            <a:off x="8503920" y="2770632"/>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$0</a:t>
            </a:r>
          </a:p>
        </p:txBody>
      </p:sp>
      <p:sp>
        <p:nvSpPr>
          <p:cNvPr id="14" name="TextBox 13"/>
          <p:cNvSpPr txBox="1"/>
          <p:nvPr/>
        </p:nvSpPr>
        <p:spPr>
          <a:xfrm>
            <a:off x="9555480" y="2793492"/>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WiFi, no gateway</a:t>
            </a:r>
          </a:p>
        </p:txBody>
      </p:sp>
      <p:sp>
        <p:nvSpPr>
          <p:cNvPr id="15" name="TextBox 14"/>
          <p:cNvSpPr txBox="1"/>
          <p:nvPr/>
        </p:nvSpPr>
        <p:spPr>
          <a:xfrm>
            <a:off x="822960" y="3067812"/>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Sensor unit + display</a:t>
            </a:r>
          </a:p>
        </p:txBody>
      </p:sp>
      <p:sp>
        <p:nvSpPr>
          <p:cNvPr id="16" name="TextBox 15"/>
          <p:cNvSpPr txBox="1"/>
          <p:nvPr/>
        </p:nvSpPr>
        <p:spPr>
          <a:xfrm>
            <a:off x="3337560" y="3081528"/>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10 at $245</a:t>
            </a:r>
          </a:p>
        </p:txBody>
      </p:sp>
      <p:sp>
        <p:nvSpPr>
          <p:cNvPr id="17" name="TextBox 16"/>
          <p:cNvSpPr txBox="1"/>
          <p:nvPr/>
        </p:nvSpPr>
        <p:spPr>
          <a:xfrm>
            <a:off x="5943600" y="3058668"/>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$2,450</a:t>
            </a:r>
          </a:p>
        </p:txBody>
      </p:sp>
      <p:sp>
        <p:nvSpPr>
          <p:cNvPr id="18" name="TextBox 17"/>
          <p:cNvSpPr txBox="1"/>
          <p:nvPr/>
        </p:nvSpPr>
        <p:spPr>
          <a:xfrm>
            <a:off x="8503920" y="3058668"/>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$900</a:t>
            </a:r>
          </a:p>
        </p:txBody>
      </p:sp>
      <p:sp>
        <p:nvSpPr>
          <p:cNvPr id="19" name="TextBox 18"/>
          <p:cNvSpPr txBox="1"/>
          <p:nvPr/>
        </p:nvSpPr>
        <p:spPr>
          <a:xfrm>
            <a:off x="9555480" y="3081528"/>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15 at $60</a:t>
            </a:r>
          </a:p>
        </p:txBody>
      </p:sp>
      <p:sp>
        <p:nvSpPr>
          <p:cNvPr id="20" name="TextBox 19"/>
          <p:cNvSpPr txBox="1"/>
          <p:nvPr/>
        </p:nvSpPr>
        <p:spPr>
          <a:xfrm>
            <a:off x="822960" y="3355848"/>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Probe + NIST certificate</a:t>
            </a:r>
          </a:p>
        </p:txBody>
      </p:sp>
      <p:sp>
        <p:nvSpPr>
          <p:cNvPr id="21" name="TextBox 20"/>
          <p:cNvSpPr txBox="1"/>
          <p:nvPr/>
        </p:nvSpPr>
        <p:spPr>
          <a:xfrm>
            <a:off x="3337560" y="3369564"/>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15 at $125 — expires at 24 months</a:t>
            </a:r>
          </a:p>
        </p:txBody>
      </p:sp>
      <p:sp>
        <p:nvSpPr>
          <p:cNvPr id="22" name="TextBox 21"/>
          <p:cNvSpPr txBox="1"/>
          <p:nvPr/>
        </p:nvSpPr>
        <p:spPr>
          <a:xfrm>
            <a:off x="5943600" y="3346704"/>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$1,875</a:t>
            </a:r>
          </a:p>
        </p:txBody>
      </p:sp>
      <p:sp>
        <p:nvSpPr>
          <p:cNvPr id="23" name="TextBox 22"/>
          <p:cNvSpPr txBox="1"/>
          <p:nvPr/>
        </p:nvSpPr>
        <p:spPr>
          <a:xfrm>
            <a:off x="8503920" y="3346704"/>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$150</a:t>
            </a:r>
          </a:p>
        </p:txBody>
      </p:sp>
      <p:sp>
        <p:nvSpPr>
          <p:cNvPr id="24" name="TextBox 23"/>
          <p:cNvSpPr txBox="1"/>
          <p:nvPr/>
        </p:nvSpPr>
        <p:spPr>
          <a:xfrm>
            <a:off x="9555480" y="3369564"/>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15 probes at $10</a:t>
            </a:r>
          </a:p>
        </p:txBody>
      </p:sp>
      <p:sp>
        <p:nvSpPr>
          <p:cNvPr id="25" name="TextBox 24"/>
          <p:cNvSpPr txBox="1"/>
          <p:nvPr/>
        </p:nvSpPr>
        <p:spPr>
          <a:xfrm>
            <a:off x="822960" y="3643884"/>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Enclosure</a:t>
            </a:r>
          </a:p>
        </p:txBody>
      </p:sp>
      <p:sp>
        <p:nvSpPr>
          <p:cNvPr id="26" name="TextBox 25"/>
          <p:cNvSpPr txBox="1"/>
          <p:nvPr/>
        </p:nvSpPr>
        <p:spPr>
          <a:xfrm>
            <a:off x="3337560" y="3657600"/>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included</a:t>
            </a:r>
          </a:p>
        </p:txBody>
      </p:sp>
      <p:sp>
        <p:nvSpPr>
          <p:cNvPr id="27" name="TextBox 26"/>
          <p:cNvSpPr txBox="1"/>
          <p:nvPr/>
        </p:nvSpPr>
        <p:spPr>
          <a:xfrm>
            <a:off x="5943600" y="3634740"/>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a:t>
            </a:r>
          </a:p>
        </p:txBody>
      </p:sp>
      <p:sp>
        <p:nvSpPr>
          <p:cNvPr id="28" name="TextBox 27"/>
          <p:cNvSpPr txBox="1"/>
          <p:nvPr/>
        </p:nvSpPr>
        <p:spPr>
          <a:xfrm>
            <a:off x="8503920" y="3634740"/>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$150</a:t>
            </a:r>
          </a:p>
        </p:txBody>
      </p:sp>
      <p:sp>
        <p:nvSpPr>
          <p:cNvPr id="29" name="TextBox 28"/>
          <p:cNvSpPr txBox="1"/>
          <p:nvPr/>
        </p:nvSpPr>
        <p:spPr>
          <a:xfrm>
            <a:off x="9555480" y="3657600"/>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15 printed at $10</a:t>
            </a:r>
          </a:p>
        </p:txBody>
      </p:sp>
      <p:sp>
        <p:nvSpPr>
          <p:cNvPr id="30" name="TextBox 29"/>
          <p:cNvSpPr txBox="1"/>
          <p:nvPr/>
        </p:nvSpPr>
        <p:spPr>
          <a:xfrm>
            <a:off x="822960" y="3931920"/>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Calibration reference</a:t>
            </a:r>
          </a:p>
        </p:txBody>
      </p:sp>
      <p:sp>
        <p:nvSpPr>
          <p:cNvPr id="31" name="TextBox 30"/>
          <p:cNvSpPr txBox="1"/>
          <p:nvPr/>
        </p:nvSpPr>
        <p:spPr>
          <a:xfrm>
            <a:off x="3337560" y="3945636"/>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n/a — bought per sensor</a:t>
            </a:r>
          </a:p>
        </p:txBody>
      </p:sp>
      <p:sp>
        <p:nvSpPr>
          <p:cNvPr id="32" name="TextBox 31"/>
          <p:cNvSpPr txBox="1"/>
          <p:nvPr/>
        </p:nvSpPr>
        <p:spPr>
          <a:xfrm>
            <a:off x="5943600" y="3922776"/>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a:t>
            </a:r>
          </a:p>
        </p:txBody>
      </p:sp>
      <p:sp>
        <p:nvSpPr>
          <p:cNvPr id="33" name="TextBox 32"/>
          <p:cNvSpPr txBox="1"/>
          <p:nvPr/>
        </p:nvSpPr>
        <p:spPr>
          <a:xfrm>
            <a:off x="8503920" y="3922776"/>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$350</a:t>
            </a:r>
          </a:p>
        </p:txBody>
      </p:sp>
      <p:sp>
        <p:nvSpPr>
          <p:cNvPr id="34" name="TextBox 33"/>
          <p:cNvSpPr txBox="1"/>
          <p:nvPr/>
        </p:nvSpPr>
        <p:spPr>
          <a:xfrm>
            <a:off x="9555480" y="3945636"/>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one, covers the fleet</a:t>
            </a:r>
          </a:p>
        </p:txBody>
      </p:sp>
      <p:sp>
        <p:nvSpPr>
          <p:cNvPr id="35" name="TextBox 34"/>
          <p:cNvSpPr txBox="1"/>
          <p:nvPr/>
        </p:nvSpPr>
        <p:spPr>
          <a:xfrm>
            <a:off x="822960" y="4219956"/>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Duty, tariff, freight</a:t>
            </a:r>
          </a:p>
        </p:txBody>
      </p:sp>
      <p:sp>
        <p:nvSpPr>
          <p:cNvPr id="36" name="TextBox 35"/>
          <p:cNvSpPr txBox="1"/>
          <p:nvPr/>
        </p:nvSpPr>
        <p:spPr>
          <a:xfrm>
            <a:off x="3337560" y="4233672"/>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imported</a:t>
            </a:r>
          </a:p>
        </p:txBody>
      </p:sp>
      <p:sp>
        <p:nvSpPr>
          <p:cNvPr id="37" name="TextBox 36"/>
          <p:cNvSpPr txBox="1"/>
          <p:nvPr/>
        </p:nvSpPr>
        <p:spPr>
          <a:xfrm>
            <a:off x="5943600" y="4210812"/>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$407</a:t>
            </a:r>
          </a:p>
        </p:txBody>
      </p:sp>
      <p:sp>
        <p:nvSpPr>
          <p:cNvPr id="38" name="TextBox 37"/>
          <p:cNvSpPr txBox="1"/>
          <p:nvPr/>
        </p:nvSpPr>
        <p:spPr>
          <a:xfrm>
            <a:off x="8503920" y="4210812"/>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$0</a:t>
            </a:r>
          </a:p>
        </p:txBody>
      </p:sp>
      <p:sp>
        <p:nvSpPr>
          <p:cNvPr id="39" name="TextBox 38"/>
          <p:cNvSpPr txBox="1"/>
          <p:nvPr/>
        </p:nvSpPr>
        <p:spPr>
          <a:xfrm>
            <a:off x="9555480" y="4233672"/>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sourced domestically</a:t>
            </a:r>
          </a:p>
        </p:txBody>
      </p:sp>
      <p:sp>
        <p:nvSpPr>
          <p:cNvPr id="40" name="TextBox 39"/>
          <p:cNvSpPr txBox="1"/>
          <p:nvPr/>
        </p:nvSpPr>
        <p:spPr>
          <a:xfrm>
            <a:off x="822960" y="4507992"/>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Sales tax</a:t>
            </a:r>
          </a:p>
        </p:txBody>
      </p:sp>
      <p:sp>
        <p:nvSpPr>
          <p:cNvPr id="41" name="TextBox 40"/>
          <p:cNvSpPr txBox="1"/>
          <p:nvPr/>
        </p:nvSpPr>
        <p:spPr>
          <a:xfrm>
            <a:off x="3337560" y="4521708"/>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10.5%</a:t>
            </a:r>
          </a:p>
        </p:txBody>
      </p:sp>
      <p:sp>
        <p:nvSpPr>
          <p:cNvPr id="42" name="TextBox 41"/>
          <p:cNvSpPr txBox="1"/>
          <p:nvPr/>
        </p:nvSpPr>
        <p:spPr>
          <a:xfrm>
            <a:off x="5943600" y="4498848"/>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$748</a:t>
            </a:r>
          </a:p>
        </p:txBody>
      </p:sp>
      <p:sp>
        <p:nvSpPr>
          <p:cNvPr id="43" name="TextBox 42"/>
          <p:cNvSpPr txBox="1"/>
          <p:nvPr/>
        </p:nvSpPr>
        <p:spPr>
          <a:xfrm>
            <a:off x="8503920" y="4498848"/>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$162</a:t>
            </a:r>
          </a:p>
        </p:txBody>
      </p:sp>
      <p:sp>
        <p:nvSpPr>
          <p:cNvPr id="44" name="TextBox 43"/>
          <p:cNvSpPr txBox="1"/>
          <p:nvPr/>
        </p:nvSpPr>
        <p:spPr>
          <a:xfrm>
            <a:off x="822960" y="4887468"/>
            <a:ext cx="4754880" cy="219456"/>
          </a:xfrm>
          <a:prstGeom prst="rect">
            <a:avLst/>
          </a:prstGeom>
          <a:noFill/>
        </p:spPr>
        <p:txBody>
          <a:bodyPr wrap="square" anchor="t" lIns="0" rIns="0" tIns="0" bIns="0">
            <a:spAutoFit/>
          </a:bodyPr>
          <a:lstStyle/>
          <a:p>
            <a:pPr algn="l">
              <a:lnSpc>
                <a:spcPct val="100000"/>
              </a:lnSpc>
              <a:spcBef>
                <a:spcPts val="0"/>
              </a:spcBef>
              <a:spcAft>
                <a:spcPts val="0"/>
              </a:spcAft>
            </a:pPr>
            <a:r>
              <a:rPr sz="950" b="1">
                <a:solidFill>
                  <a:srgbClr val="9EAFB7"/>
                </a:solidFill>
                <a:latin typeface="Arial"/>
              </a:rPr>
              <a:t>ANNUAL</a:t>
            </a:r>
          </a:p>
        </p:txBody>
      </p:sp>
      <p:sp>
        <p:nvSpPr>
          <p:cNvPr id="45" name="TextBox 44"/>
          <p:cNvSpPr txBox="1"/>
          <p:nvPr/>
        </p:nvSpPr>
        <p:spPr>
          <a:xfrm>
            <a:off x="822960" y="5125212"/>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Monitoring subscription</a:t>
            </a:r>
          </a:p>
        </p:txBody>
      </p:sp>
      <p:sp>
        <p:nvSpPr>
          <p:cNvPr id="46" name="TextBox 45"/>
          <p:cNvSpPr txBox="1"/>
          <p:nvPr/>
        </p:nvSpPr>
        <p:spPr>
          <a:xfrm>
            <a:off x="3337560" y="5138928"/>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$100/month, per site</a:t>
            </a:r>
          </a:p>
        </p:txBody>
      </p:sp>
      <p:sp>
        <p:nvSpPr>
          <p:cNvPr id="47" name="TextBox 46"/>
          <p:cNvSpPr txBox="1"/>
          <p:nvPr/>
        </p:nvSpPr>
        <p:spPr>
          <a:xfrm>
            <a:off x="5943600" y="5116068"/>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$1,200</a:t>
            </a:r>
          </a:p>
        </p:txBody>
      </p:sp>
      <p:sp>
        <p:nvSpPr>
          <p:cNvPr id="48" name="TextBox 47"/>
          <p:cNvSpPr txBox="1"/>
          <p:nvPr/>
        </p:nvSpPr>
        <p:spPr>
          <a:xfrm>
            <a:off x="8503920" y="5116068"/>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a:t>
            </a:r>
          </a:p>
        </p:txBody>
      </p:sp>
      <p:sp>
        <p:nvSpPr>
          <p:cNvPr id="49" name="TextBox 48"/>
          <p:cNvSpPr txBox="1"/>
          <p:nvPr/>
        </p:nvSpPr>
        <p:spPr>
          <a:xfrm>
            <a:off x="822960" y="5413248"/>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Hosting and database</a:t>
            </a:r>
          </a:p>
        </p:txBody>
      </p:sp>
      <p:sp>
        <p:nvSpPr>
          <p:cNvPr id="50" name="TextBox 49"/>
          <p:cNvSpPr txBox="1"/>
          <p:nvPr/>
        </p:nvSpPr>
        <p:spPr>
          <a:xfrm>
            <a:off x="3337560" y="5426964"/>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included above</a:t>
            </a:r>
          </a:p>
        </p:txBody>
      </p:sp>
      <p:sp>
        <p:nvSpPr>
          <p:cNvPr id="51" name="TextBox 50"/>
          <p:cNvSpPr txBox="1"/>
          <p:nvPr/>
        </p:nvSpPr>
        <p:spPr>
          <a:xfrm>
            <a:off x="5943600" y="5404104"/>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a:t>
            </a:r>
          </a:p>
        </p:txBody>
      </p:sp>
      <p:sp>
        <p:nvSpPr>
          <p:cNvPr id="52" name="TextBox 51"/>
          <p:cNvSpPr txBox="1"/>
          <p:nvPr/>
        </p:nvSpPr>
        <p:spPr>
          <a:xfrm>
            <a:off x="8503920" y="5404104"/>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$144</a:t>
            </a:r>
          </a:p>
        </p:txBody>
      </p:sp>
      <p:sp>
        <p:nvSpPr>
          <p:cNvPr id="53" name="TextBox 52"/>
          <p:cNvSpPr txBox="1"/>
          <p:nvPr/>
        </p:nvSpPr>
        <p:spPr>
          <a:xfrm>
            <a:off x="9555480" y="5426964"/>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$12/mo, every site</a:t>
            </a:r>
          </a:p>
        </p:txBody>
      </p:sp>
      <p:sp>
        <p:nvSpPr>
          <p:cNvPr id="54" name="TextBox 53"/>
          <p:cNvSpPr txBox="1"/>
          <p:nvPr/>
        </p:nvSpPr>
        <p:spPr>
          <a:xfrm>
            <a:off x="822960" y="5792724"/>
            <a:ext cx="4754880" cy="219456"/>
          </a:xfrm>
          <a:prstGeom prst="rect">
            <a:avLst/>
          </a:prstGeom>
          <a:noFill/>
        </p:spPr>
        <p:txBody>
          <a:bodyPr wrap="square" anchor="t" lIns="0" rIns="0" tIns="0" bIns="0">
            <a:spAutoFit/>
          </a:bodyPr>
          <a:lstStyle/>
          <a:p>
            <a:pPr algn="l">
              <a:lnSpc>
                <a:spcPct val="100000"/>
              </a:lnSpc>
              <a:spcBef>
                <a:spcPts val="0"/>
              </a:spcBef>
              <a:spcAft>
                <a:spcPts val="0"/>
              </a:spcAft>
            </a:pPr>
            <a:r>
              <a:rPr sz="950" b="1">
                <a:solidFill>
                  <a:srgbClr val="9EAFB7"/>
                </a:solidFill>
                <a:latin typeface="Arial"/>
              </a:rPr>
              <a:t>EVERY 24 MONTHS</a:t>
            </a:r>
          </a:p>
        </p:txBody>
      </p:sp>
      <p:sp>
        <p:nvSpPr>
          <p:cNvPr id="55" name="TextBox 54"/>
          <p:cNvSpPr txBox="1"/>
          <p:nvPr/>
        </p:nvSpPr>
        <p:spPr>
          <a:xfrm>
            <a:off x="822960" y="6030468"/>
            <a:ext cx="4023360" cy="219456"/>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121E25"/>
                </a:solidFill>
                <a:latin typeface="Arial"/>
              </a:rPr>
              <a:t>NIST recertification</a:t>
            </a:r>
          </a:p>
        </p:txBody>
      </p:sp>
      <p:sp>
        <p:nvSpPr>
          <p:cNvPr id="56" name="TextBox 55"/>
          <p:cNvSpPr txBox="1"/>
          <p:nvPr/>
        </p:nvSpPr>
        <p:spPr>
          <a:xfrm>
            <a:off x="3337560" y="6044184"/>
            <a:ext cx="256032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15 probes at $125</a:t>
            </a:r>
          </a:p>
        </p:txBody>
      </p:sp>
      <p:sp>
        <p:nvSpPr>
          <p:cNvPr id="57" name="TextBox 56"/>
          <p:cNvSpPr txBox="1"/>
          <p:nvPr/>
        </p:nvSpPr>
        <p:spPr>
          <a:xfrm>
            <a:off x="5943600" y="6021324"/>
            <a:ext cx="210312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C4622D"/>
                </a:solidFill>
                <a:latin typeface="Georgia"/>
              </a:rPr>
              <a:t>$1,875</a:t>
            </a:r>
          </a:p>
        </p:txBody>
      </p:sp>
      <p:sp>
        <p:nvSpPr>
          <p:cNvPr id="58" name="TextBox 57"/>
          <p:cNvSpPr txBox="1"/>
          <p:nvPr/>
        </p:nvSpPr>
        <p:spPr>
          <a:xfrm>
            <a:off x="8503920" y="6021324"/>
            <a:ext cx="1828800" cy="237744"/>
          </a:xfrm>
          <a:prstGeom prst="rect">
            <a:avLst/>
          </a:prstGeom>
          <a:noFill/>
        </p:spPr>
        <p:txBody>
          <a:bodyPr wrap="square" anchor="t" lIns="0" rIns="0" tIns="0" bIns="0">
            <a:spAutoFit/>
          </a:bodyPr>
          <a:lstStyle/>
          <a:p>
            <a:pPr algn="l">
              <a:lnSpc>
                <a:spcPct val="100000"/>
              </a:lnSpc>
              <a:spcBef>
                <a:spcPts val="0"/>
              </a:spcBef>
              <a:spcAft>
                <a:spcPts val="0"/>
              </a:spcAft>
            </a:pPr>
            <a:r>
              <a:rPr sz="1300" b="0">
                <a:solidFill>
                  <a:srgbClr val="2B8A9E"/>
                </a:solidFill>
                <a:latin typeface="Georgia"/>
              </a:rPr>
              <a:t>$150</a:t>
            </a:r>
          </a:p>
        </p:txBody>
      </p:sp>
      <p:sp>
        <p:nvSpPr>
          <p:cNvPr id="59" name="TextBox 58"/>
          <p:cNvSpPr txBox="1"/>
          <p:nvPr/>
        </p:nvSpPr>
        <p:spPr>
          <a:xfrm>
            <a:off x="9555480" y="6044184"/>
            <a:ext cx="2377440" cy="219456"/>
          </a:xfrm>
          <a:prstGeom prst="rect">
            <a:avLst/>
          </a:prstGeom>
          <a:noFill/>
        </p:spPr>
        <p:txBody>
          <a:bodyPr wrap="square" anchor="t" lIns="0" rIns="0" tIns="0" bIns="0">
            <a:spAutoFit/>
          </a:bodyPr>
          <a:lstStyle/>
          <a:p>
            <a:pPr algn="l">
              <a:lnSpc>
                <a:spcPct val="100000"/>
              </a:lnSpc>
              <a:spcBef>
                <a:spcPts val="0"/>
              </a:spcBef>
              <a:spcAft>
                <a:spcPts val="0"/>
              </a:spcAft>
            </a:pPr>
            <a:r>
              <a:rPr sz="950" b="0">
                <a:solidFill>
                  <a:srgbClr val="637782"/>
                </a:solidFill>
                <a:latin typeface="Arial"/>
              </a:rPr>
              <a:t>recalibrate in-house</a:t>
            </a:r>
          </a:p>
        </p:txBody>
      </p:sp>
      <p:sp>
        <p:nvSpPr>
          <p:cNvPr id="60" name="Rectangle 59"/>
          <p:cNvSpPr/>
          <p:nvPr/>
        </p:nvSpPr>
        <p:spPr>
          <a:xfrm>
            <a:off x="822960" y="6428232"/>
            <a:ext cx="10545775" cy="18288"/>
          </a:xfrm>
          <a:prstGeom prst="rect">
            <a:avLst/>
          </a:prstGeom>
          <a:solidFill>
            <a:srgbClr val="121E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22960" y="6556248"/>
            <a:ext cx="2377440" cy="292608"/>
          </a:xfrm>
          <a:prstGeom prst="rect">
            <a:avLst/>
          </a:prstGeom>
          <a:noFill/>
        </p:spPr>
        <p:txBody>
          <a:bodyPr wrap="square" anchor="t" lIns="0" rIns="0" tIns="0" bIns="0">
            <a:spAutoFit/>
          </a:bodyPr>
          <a:lstStyle/>
          <a:p>
            <a:pPr algn="l">
              <a:lnSpc>
                <a:spcPct val="100000"/>
              </a:lnSpc>
              <a:spcBef>
                <a:spcPts val="0"/>
              </a:spcBef>
              <a:spcAft>
                <a:spcPts val="0"/>
              </a:spcAft>
            </a:pPr>
            <a:r>
              <a:rPr sz="1500" b="1">
                <a:solidFill>
                  <a:srgbClr val="121E25"/>
                </a:solidFill>
                <a:latin typeface="Arial"/>
              </a:rPr>
              <a:t>First year</a:t>
            </a:r>
          </a:p>
        </p:txBody>
      </p:sp>
      <p:sp>
        <p:nvSpPr>
          <p:cNvPr id="62" name="TextBox 61"/>
          <p:cNvSpPr txBox="1"/>
          <p:nvPr/>
        </p:nvSpPr>
        <p:spPr>
          <a:xfrm>
            <a:off x="5943600" y="6519672"/>
            <a:ext cx="2194560" cy="329184"/>
          </a:xfrm>
          <a:prstGeom prst="rect">
            <a:avLst/>
          </a:prstGeom>
          <a:noFill/>
        </p:spPr>
        <p:txBody>
          <a:bodyPr wrap="square" anchor="t" lIns="0" rIns="0" tIns="0" bIns="0">
            <a:spAutoFit/>
          </a:bodyPr>
          <a:lstStyle/>
          <a:p>
            <a:pPr algn="l">
              <a:lnSpc>
                <a:spcPct val="100000"/>
              </a:lnSpc>
              <a:spcBef>
                <a:spcPts val="0"/>
              </a:spcBef>
              <a:spcAft>
                <a:spcPts val="0"/>
              </a:spcAft>
            </a:pPr>
            <a:r>
              <a:rPr sz="2000" b="0">
                <a:solidFill>
                  <a:srgbClr val="C4622D"/>
                </a:solidFill>
                <a:latin typeface="Georgia"/>
              </a:rPr>
              <a:t>$9,202</a:t>
            </a:r>
          </a:p>
        </p:txBody>
      </p:sp>
      <p:sp>
        <p:nvSpPr>
          <p:cNvPr id="63" name="TextBox 62"/>
          <p:cNvSpPr txBox="1"/>
          <p:nvPr/>
        </p:nvSpPr>
        <p:spPr>
          <a:xfrm>
            <a:off x="8503920" y="6519672"/>
            <a:ext cx="2194560" cy="329184"/>
          </a:xfrm>
          <a:prstGeom prst="rect">
            <a:avLst/>
          </a:prstGeom>
          <a:noFill/>
        </p:spPr>
        <p:txBody>
          <a:bodyPr wrap="square" anchor="t" lIns="0" rIns="0" tIns="0" bIns="0">
            <a:spAutoFit/>
          </a:bodyPr>
          <a:lstStyle/>
          <a:p>
            <a:pPr algn="l">
              <a:lnSpc>
                <a:spcPct val="100000"/>
              </a:lnSpc>
              <a:spcBef>
                <a:spcPts val="0"/>
              </a:spcBef>
              <a:spcAft>
                <a:spcPts val="0"/>
              </a:spcAft>
            </a:pPr>
            <a:r>
              <a:rPr sz="2000" b="0">
                <a:solidFill>
                  <a:srgbClr val="2B8A9E"/>
                </a:solidFill>
                <a:latin typeface="Georgia"/>
              </a:rPr>
              <a:t>$1,856</a:t>
            </a:r>
          </a:p>
        </p:txBody>
      </p:sp>
      <p:sp>
        <p:nvSpPr>
          <p:cNvPr id="64" name="TextBox 63"/>
          <p:cNvSpPr txBox="1"/>
          <p:nvPr/>
        </p:nvSpPr>
        <p:spPr>
          <a:xfrm>
            <a:off x="9966960" y="6592824"/>
            <a:ext cx="219456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E7D5B"/>
                </a:solidFill>
                <a:latin typeface="Arial"/>
              </a:rPr>
              <a:t>80% lower</a:t>
            </a:r>
          </a:p>
        </p:txBody>
      </p:sp>
      <p:sp>
        <p:nvSpPr>
          <p:cNvPr id="65" name="TextBox 64"/>
          <p:cNvSpPr txBox="1"/>
          <p:nvPr/>
        </p:nvSpPr>
        <p:spPr>
          <a:xfrm>
            <a:off x="822960" y="6199632"/>
            <a:ext cx="10545775" cy="292608"/>
          </a:xfrm>
          <a:prstGeom prst="rect">
            <a:avLst/>
          </a:prstGeom>
          <a:noFill/>
        </p:spPr>
        <p:txBody>
          <a:bodyPr wrap="square" anchor="t" lIns="0" rIns="0" tIns="0" bIns="0">
            <a:spAutoFit/>
          </a:bodyPr>
          <a:lstStyle/>
          <a:p>
            <a:pPr algn="l">
              <a:lnSpc>
                <a:spcPct val="100000"/>
              </a:lnSpc>
              <a:spcBef>
                <a:spcPts val="0"/>
              </a:spcBef>
              <a:spcAft>
                <a:spcPts val="0"/>
              </a:spcAft>
            </a:pPr>
            <a:r>
              <a:rPr sz="1050" b="0">
                <a:solidFill>
                  <a:srgbClr val="9EAFB7"/>
                </a:solidFill>
                <a:latin typeface="Arial"/>
              </a:rPr>
              <a:t>Left column is taken from the quote. Right column is my build at the same 15 monitoring points.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B22"/>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05</a:t>
            </a:r>
          </a:p>
          <a:p>
            <a:pPr algn="l">
              <a:lnSpc>
                <a:spcPct val="100000"/>
              </a:lnSpc>
              <a:spcBef>
                <a:spcPts val="0"/>
              </a:spcBef>
              <a:spcAft>
                <a:spcPts val="0"/>
              </a:spcAft>
            </a:pPr>
            <a:r>
              <a:rPr sz="1200" b="0">
                <a:solidFill>
                  <a:srgbClr val="9EAFB7"/>
                </a:solidFill>
                <a:latin typeface="Arial"/>
              </a:rPr>
              <a:t>   COST</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FAFBFC"/>
                </a:solidFill>
                <a:latin typeface="Georgia"/>
              </a:rPr>
              <a:t>The same site, five years out</a:t>
            </a:r>
          </a:p>
        </p:txBody>
      </p:sp>
      <p:sp>
        <p:nvSpPr>
          <p:cNvPr id="5" name="TextBox 4"/>
          <p:cNvSpPr txBox="1"/>
          <p:nvPr/>
        </p:nvSpPr>
        <p:spPr>
          <a:xfrm>
            <a:off x="822960" y="2286000"/>
            <a:ext cx="3657600" cy="274320"/>
          </a:xfrm>
          <a:prstGeom prst="rect">
            <a:avLst/>
          </a:prstGeom>
          <a:noFill/>
        </p:spPr>
        <p:txBody>
          <a:bodyPr wrap="square" anchor="t" lIns="0" rIns="0" tIns="0" bIns="0">
            <a:spAutoFit/>
          </a:bodyPr>
          <a:lstStyle/>
          <a:p>
            <a:pPr algn="l">
              <a:lnSpc>
                <a:spcPct val="100000"/>
              </a:lnSpc>
              <a:spcBef>
                <a:spcPts val="0"/>
              </a:spcBef>
              <a:spcAft>
                <a:spcPts val="0"/>
              </a:spcAft>
            </a:pPr>
            <a:r>
              <a:rPr sz="1150" b="1">
                <a:solidFill>
                  <a:srgbClr val="E8935C"/>
                </a:solidFill>
                <a:latin typeface="Arial"/>
              </a:rPr>
              <a:t>SMARTSENSE</a:t>
            </a:r>
          </a:p>
        </p:txBody>
      </p:sp>
      <p:sp>
        <p:nvSpPr>
          <p:cNvPr id="6" name="Rectangle 5"/>
          <p:cNvSpPr/>
          <p:nvPr/>
        </p:nvSpPr>
        <p:spPr>
          <a:xfrm>
            <a:off x="822960" y="2606040"/>
            <a:ext cx="7498079" cy="713232"/>
          </a:xfrm>
          <a:prstGeom prst="rect">
            <a:avLst/>
          </a:prstGeom>
          <a:solidFill>
            <a:srgbClr val="C46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59" y="2651760"/>
            <a:ext cx="2560320" cy="548640"/>
          </a:xfrm>
          <a:prstGeom prst="rect">
            <a:avLst/>
          </a:prstGeom>
          <a:noFill/>
        </p:spPr>
        <p:txBody>
          <a:bodyPr wrap="square" anchor="t" lIns="0" rIns="0" tIns="0" bIns="0">
            <a:spAutoFit/>
          </a:bodyPr>
          <a:lstStyle/>
          <a:p>
            <a:pPr algn="l">
              <a:lnSpc>
                <a:spcPct val="100000"/>
              </a:lnSpc>
              <a:spcBef>
                <a:spcPts val="0"/>
              </a:spcBef>
              <a:spcAft>
                <a:spcPts val="0"/>
              </a:spcAft>
            </a:pPr>
            <a:r>
              <a:rPr sz="3200" b="0">
                <a:solidFill>
                  <a:srgbClr val="FAFBFC"/>
                </a:solidFill>
                <a:latin typeface="Georgia"/>
              </a:rPr>
              <a:t>$18,256</a:t>
            </a:r>
          </a:p>
        </p:txBody>
      </p:sp>
      <p:sp>
        <p:nvSpPr>
          <p:cNvPr id="8" name="TextBox 7"/>
          <p:cNvSpPr txBox="1"/>
          <p:nvPr/>
        </p:nvSpPr>
        <p:spPr>
          <a:xfrm>
            <a:off x="822960" y="3419856"/>
            <a:ext cx="82296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a:solidFill>
                  <a:srgbClr val="8EA2AB"/>
                </a:solidFill>
                <a:latin typeface="Arial"/>
              </a:rPr>
              <a:t>$9,202 first year   +   $5,304 subscriptions   +   $3,750 NIST recertification</a:t>
            </a:r>
          </a:p>
        </p:txBody>
      </p:sp>
      <p:sp>
        <p:nvSpPr>
          <p:cNvPr id="9" name="TextBox 8"/>
          <p:cNvSpPr txBox="1"/>
          <p:nvPr/>
        </p:nvSpPr>
        <p:spPr>
          <a:xfrm>
            <a:off x="822960" y="4114800"/>
            <a:ext cx="3657600" cy="274320"/>
          </a:xfrm>
          <a:prstGeom prst="rect">
            <a:avLst/>
          </a:prstGeom>
          <a:noFill/>
        </p:spPr>
        <p:txBody>
          <a:bodyPr wrap="square" anchor="t" lIns="0" rIns="0" tIns="0" bIns="0">
            <a:spAutoFit/>
          </a:bodyPr>
          <a:lstStyle/>
          <a:p>
            <a:pPr algn="l">
              <a:lnSpc>
                <a:spcPct val="100000"/>
              </a:lnSpc>
              <a:spcBef>
                <a:spcPts val="0"/>
              </a:spcBef>
              <a:spcAft>
                <a:spcPts val="0"/>
              </a:spcAft>
            </a:pPr>
            <a:r>
              <a:rPr sz="1150" b="1">
                <a:solidFill>
                  <a:srgbClr val="7FC4D2"/>
                </a:solidFill>
                <a:latin typeface="Arial"/>
              </a:rPr>
              <a:t>MINE</a:t>
            </a:r>
          </a:p>
        </p:txBody>
      </p:sp>
      <p:sp>
        <p:nvSpPr>
          <p:cNvPr id="10" name="Rectangle 9"/>
          <p:cNvSpPr/>
          <p:nvPr/>
        </p:nvSpPr>
        <p:spPr>
          <a:xfrm>
            <a:off x="822960" y="4434840"/>
            <a:ext cx="1082367089568" cy="713232"/>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57400" y="4480560"/>
            <a:ext cx="2560320" cy="548640"/>
          </a:xfrm>
          <a:prstGeom prst="rect">
            <a:avLst/>
          </a:prstGeom>
          <a:noFill/>
        </p:spPr>
        <p:txBody>
          <a:bodyPr wrap="square" anchor="t" lIns="0" rIns="0" tIns="0" bIns="0">
            <a:spAutoFit/>
          </a:bodyPr>
          <a:lstStyle/>
          <a:p>
            <a:pPr algn="l">
              <a:lnSpc>
                <a:spcPct val="100000"/>
              </a:lnSpc>
              <a:spcBef>
                <a:spcPts val="0"/>
              </a:spcBef>
              <a:spcAft>
                <a:spcPts val="0"/>
              </a:spcAft>
            </a:pPr>
            <a:r>
              <a:rPr sz="3200" b="0">
                <a:solidFill>
                  <a:srgbClr val="FAFBFC"/>
                </a:solidFill>
                <a:latin typeface="Georgia"/>
              </a:rPr>
              <a:t>$2,882</a:t>
            </a:r>
          </a:p>
        </p:txBody>
      </p:sp>
      <p:sp>
        <p:nvSpPr>
          <p:cNvPr id="12" name="TextBox 11"/>
          <p:cNvSpPr txBox="1"/>
          <p:nvPr/>
        </p:nvSpPr>
        <p:spPr>
          <a:xfrm>
            <a:off x="822960" y="5248656"/>
            <a:ext cx="82296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a:solidFill>
                  <a:srgbClr val="8EA2AB"/>
                </a:solidFill>
                <a:latin typeface="Arial"/>
              </a:rPr>
              <a:t>$1,712 hardware and setup   +   $450 recalibration   +   $720 hosting</a:t>
            </a:r>
          </a:p>
        </p:txBody>
      </p:sp>
      <p:sp>
        <p:nvSpPr>
          <p:cNvPr id="13" name="Rectangle 12"/>
          <p:cNvSpPr/>
          <p:nvPr/>
        </p:nvSpPr>
        <p:spPr>
          <a:xfrm>
            <a:off x="9829800" y="2286000"/>
            <a:ext cx="13716" cy="3063240"/>
          </a:xfrm>
          <a:prstGeom prst="rect">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0" y="2377440"/>
            <a:ext cx="2103120" cy="1463040"/>
          </a:xfrm>
          <a:prstGeom prst="rect">
            <a:avLst/>
          </a:prstGeom>
          <a:noFill/>
        </p:spPr>
        <p:txBody>
          <a:bodyPr wrap="square" anchor="t" lIns="0" rIns="0" tIns="0" bIns="0">
            <a:spAutoFit/>
          </a:bodyPr>
          <a:lstStyle/>
          <a:p>
            <a:pPr algn="l">
              <a:lnSpc>
                <a:spcPct val="130000"/>
              </a:lnSpc>
              <a:spcBef>
                <a:spcPts val="0"/>
              </a:spcBef>
              <a:spcAft>
                <a:spcPts val="0"/>
              </a:spcAft>
            </a:pPr>
            <a:r>
              <a:rPr sz="3000" b="0">
                <a:solidFill>
                  <a:srgbClr val="7FC4D2"/>
                </a:solidFill>
                <a:latin typeface="Georgia"/>
              </a:rPr>
              <a:t>$15,374</a:t>
            </a:r>
          </a:p>
          <a:p>
            <a:pPr algn="l">
              <a:lnSpc>
                <a:spcPct val="130000"/>
              </a:lnSpc>
              <a:spcBef>
                <a:spcPts val="800"/>
              </a:spcBef>
              <a:spcAft>
                <a:spcPts val="0"/>
              </a:spcAft>
            </a:pPr>
            <a:r>
              <a:rPr sz="1200" b="0">
                <a:solidFill>
                  <a:srgbClr val="8EA2AB"/>
                </a:solidFill>
                <a:latin typeface="Arial"/>
              </a:rPr>
              <a:t>saved on this
site alone</a:t>
            </a:r>
          </a:p>
        </p:txBody>
      </p:sp>
      <p:sp>
        <p:nvSpPr>
          <p:cNvPr id="15" name="TextBox 14"/>
          <p:cNvSpPr txBox="1"/>
          <p:nvPr/>
        </p:nvSpPr>
        <p:spPr>
          <a:xfrm>
            <a:off x="10149840" y="4114800"/>
            <a:ext cx="2103120" cy="1280160"/>
          </a:xfrm>
          <a:prstGeom prst="rect">
            <a:avLst/>
          </a:prstGeom>
          <a:noFill/>
        </p:spPr>
        <p:txBody>
          <a:bodyPr wrap="square" anchor="t" lIns="0" rIns="0" tIns="0" bIns="0">
            <a:spAutoFit/>
          </a:bodyPr>
          <a:lstStyle/>
          <a:p>
            <a:pPr algn="l">
              <a:lnSpc>
                <a:spcPct val="130000"/>
              </a:lnSpc>
              <a:spcBef>
                <a:spcPts val="0"/>
              </a:spcBef>
              <a:spcAft>
                <a:spcPts val="0"/>
              </a:spcAft>
            </a:pPr>
            <a:r>
              <a:rPr sz="3000" b="0">
                <a:solidFill>
                  <a:srgbClr val="7FC4D2"/>
                </a:solidFill>
                <a:latin typeface="Georgia"/>
              </a:rPr>
              <a:t>87%</a:t>
            </a:r>
          </a:p>
          <a:p>
            <a:pPr algn="l">
              <a:lnSpc>
                <a:spcPct val="130000"/>
              </a:lnSpc>
              <a:spcBef>
                <a:spcPts val="800"/>
              </a:spcBef>
              <a:spcAft>
                <a:spcPts val="0"/>
              </a:spcAft>
            </a:pPr>
            <a:r>
              <a:rPr sz="1200" b="0">
                <a:solidFill>
                  <a:srgbClr val="8EA2AB"/>
                </a:solidFill>
                <a:latin typeface="Arial"/>
              </a:rPr>
              <a:t>lower over
five years</a:t>
            </a:r>
          </a:p>
        </p:txBody>
      </p:sp>
      <p:sp>
        <p:nvSpPr>
          <p:cNvPr id="16" name="TextBox 15"/>
          <p:cNvSpPr txBox="1"/>
          <p:nvPr/>
        </p:nvSpPr>
        <p:spPr>
          <a:xfrm>
            <a:off x="822960" y="5852160"/>
            <a:ext cx="10545775" cy="457200"/>
          </a:xfrm>
          <a:prstGeom prst="rect">
            <a:avLst/>
          </a:prstGeom>
          <a:noFill/>
        </p:spPr>
        <p:txBody>
          <a:bodyPr wrap="square" anchor="t" lIns="0" rIns="0" tIns="0" bIns="0">
            <a:spAutoFit/>
          </a:bodyPr>
          <a:lstStyle/>
          <a:p>
            <a:pPr algn="l">
              <a:lnSpc>
                <a:spcPct val="100000"/>
              </a:lnSpc>
              <a:spcBef>
                <a:spcPts val="0"/>
              </a:spcBef>
              <a:spcAft>
                <a:spcPts val="0"/>
              </a:spcAft>
            </a:pPr>
            <a:r>
              <a:rPr sz="1900" b="0">
                <a:solidFill>
                  <a:srgbClr val="FAFBFC"/>
                </a:solidFill>
                <a:latin typeface="Georgia"/>
              </a:rPr>
              <a:t>And this quote is for one new location. Every site after it widens the gap.</a:t>
            </a:r>
          </a:p>
        </p:txBody>
      </p:sp>
      <p:sp>
        <p:nvSpPr>
          <p:cNvPr id="17" name="TextBox 16"/>
          <p:cNvSpPr txBox="1"/>
          <p:nvPr/>
        </p:nvSpPr>
        <p:spPr>
          <a:xfrm>
            <a:off x="822960" y="6199632"/>
            <a:ext cx="10545775" cy="292608"/>
          </a:xfrm>
          <a:prstGeom prst="rect">
            <a:avLst/>
          </a:prstGeom>
          <a:noFill/>
        </p:spPr>
        <p:txBody>
          <a:bodyPr wrap="square" anchor="t" lIns="0" rIns="0" tIns="0" bIns="0">
            <a:spAutoFit/>
          </a:bodyPr>
          <a:lstStyle/>
          <a:p>
            <a:pPr algn="l">
              <a:lnSpc>
                <a:spcPct val="100000"/>
              </a:lnSpc>
              <a:spcBef>
                <a:spcPts val="0"/>
              </a:spcBef>
              <a:spcAft>
                <a:spcPts val="0"/>
              </a:spcAft>
            </a:pPr>
            <a:r>
              <a:rPr sz="1050" b="0">
                <a:solidFill>
                  <a:srgbClr val="2A3A44"/>
                </a:solidFill>
                <a:latin typeface="Arial"/>
              </a:rPr>
              <a:t>Subscription held flat at today's rate. NIST recertified at 24 and 48 months, as quoted.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06</a:t>
            </a:r>
          </a:p>
          <a:p>
            <a:pPr algn="l">
              <a:lnSpc>
                <a:spcPct val="100000"/>
              </a:lnSpc>
              <a:spcBef>
                <a:spcPts val="0"/>
              </a:spcBef>
              <a:spcAft>
                <a:spcPts val="0"/>
              </a:spcAft>
            </a:pPr>
            <a:r>
              <a:rPr sz="1200" b="0">
                <a:solidFill>
                  <a:srgbClr val="637782"/>
                </a:solidFill>
                <a:latin typeface="Arial"/>
              </a:rPr>
              <a:t>   INSTALLATION</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121E25"/>
                </a:solidFill>
                <a:latin typeface="Georgia"/>
              </a:rPr>
              <a:t>Wall power, and a probe through the door seal</a:t>
            </a:r>
          </a:p>
        </p:txBody>
      </p:sp>
      <p:sp>
        <p:nvSpPr>
          <p:cNvPr id="5" name="TextBox 4"/>
          <p:cNvSpPr txBox="1"/>
          <p:nvPr/>
        </p:nvSpPr>
        <p:spPr>
          <a:xfrm>
            <a:off x="822960" y="2194560"/>
            <a:ext cx="5486400" cy="566928"/>
          </a:xfrm>
          <a:prstGeom prst="rect">
            <a:avLst/>
          </a:prstGeom>
          <a:noFill/>
        </p:spPr>
        <p:txBody>
          <a:bodyPr wrap="square" anchor="t" lIns="0" rIns="0" tIns="0" bIns="0">
            <a:spAutoFit/>
          </a:bodyPr>
          <a:lstStyle/>
          <a:p>
            <a:pPr algn="l">
              <a:lnSpc>
                <a:spcPct val="120000"/>
              </a:lnSpc>
              <a:spcBef>
                <a:spcPts val="0"/>
              </a:spcBef>
              <a:spcAft>
                <a:spcPts val="0"/>
              </a:spcAft>
            </a:pPr>
            <a:r>
              <a:rPr sz="1600" b="1">
                <a:solidFill>
                  <a:srgbClr val="121E25"/>
                </a:solidFill>
                <a:latin typeface="Arial"/>
              </a:rPr>
              <a:t>The unit mounts outside, the probe goes in</a:t>
            </a:r>
          </a:p>
        </p:txBody>
      </p:sp>
      <p:sp>
        <p:nvSpPr>
          <p:cNvPr id="6" name="TextBox 5"/>
          <p:cNvSpPr txBox="1"/>
          <p:nvPr/>
        </p:nvSpPr>
        <p:spPr>
          <a:xfrm>
            <a:off x="822960" y="2761488"/>
            <a:ext cx="5394960" cy="685800"/>
          </a:xfrm>
          <a:prstGeom prst="rect">
            <a:avLst/>
          </a:prstGeom>
          <a:noFill/>
        </p:spPr>
        <p:txBody>
          <a:bodyPr wrap="square" anchor="t" lIns="0" rIns="0" tIns="0" bIns="0">
            <a:spAutoFit/>
          </a:bodyPr>
          <a:lstStyle/>
          <a:p>
            <a:pPr algn="l">
              <a:lnSpc>
                <a:spcPct val="135000"/>
              </a:lnSpc>
              <a:spcBef>
                <a:spcPts val="0"/>
              </a:spcBef>
              <a:spcAft>
                <a:spcPts val="0"/>
              </a:spcAft>
            </a:pPr>
            <a:r>
              <a:rPr sz="1250" b="0">
                <a:solidFill>
                  <a:srgbClr val="637782"/>
                </a:solidFill>
                <a:latin typeface="Arial"/>
              </a:rPr>
              <a:t>A flat cable passes through the door seal without compromising it. Nothing gets drilled and nothing about the freezer gets modified.</a:t>
            </a:r>
          </a:p>
        </p:txBody>
      </p:sp>
      <p:sp>
        <p:nvSpPr>
          <p:cNvPr id="7" name="TextBox 6"/>
          <p:cNvSpPr txBox="1"/>
          <p:nvPr/>
        </p:nvSpPr>
        <p:spPr>
          <a:xfrm>
            <a:off x="822960" y="3493008"/>
            <a:ext cx="5486400" cy="566928"/>
          </a:xfrm>
          <a:prstGeom prst="rect">
            <a:avLst/>
          </a:prstGeom>
          <a:noFill/>
        </p:spPr>
        <p:txBody>
          <a:bodyPr wrap="square" anchor="t" lIns="0" rIns="0" tIns="0" bIns="0">
            <a:spAutoFit/>
          </a:bodyPr>
          <a:lstStyle/>
          <a:p>
            <a:pPr algn="l">
              <a:lnSpc>
                <a:spcPct val="120000"/>
              </a:lnSpc>
              <a:spcBef>
                <a:spcPts val="0"/>
              </a:spcBef>
              <a:spcAft>
                <a:spcPts val="0"/>
              </a:spcAft>
            </a:pPr>
            <a:r>
              <a:rPr sz="1600" b="1">
                <a:solidFill>
                  <a:srgbClr val="121E25"/>
                </a:solidFill>
                <a:latin typeface="Arial"/>
              </a:rPr>
              <a:t>That's also why it needs no gateway</a:t>
            </a:r>
          </a:p>
        </p:txBody>
      </p:sp>
      <p:sp>
        <p:nvSpPr>
          <p:cNvPr id="8" name="TextBox 7"/>
          <p:cNvSpPr txBox="1"/>
          <p:nvPr/>
        </p:nvSpPr>
        <p:spPr>
          <a:xfrm>
            <a:off x="822960" y="4059936"/>
            <a:ext cx="5394960" cy="685800"/>
          </a:xfrm>
          <a:prstGeom prst="rect">
            <a:avLst/>
          </a:prstGeom>
          <a:noFill/>
        </p:spPr>
        <p:txBody>
          <a:bodyPr wrap="square" anchor="t" lIns="0" rIns="0" tIns="0" bIns="0">
            <a:spAutoFit/>
          </a:bodyPr>
          <a:lstStyle/>
          <a:p>
            <a:pPr algn="l">
              <a:lnSpc>
                <a:spcPct val="135000"/>
              </a:lnSpc>
              <a:spcBef>
                <a:spcPts val="0"/>
              </a:spcBef>
              <a:spcAft>
                <a:spcPts val="0"/>
              </a:spcAft>
            </a:pPr>
            <a:r>
              <a:rPr sz="1250" b="0">
                <a:solidFill>
                  <a:srgbClr val="637782"/>
                </a:solidFill>
                <a:latin typeface="Arial"/>
              </a:rPr>
              <a:t>Because the radio sits outside the metal box, it reaches the building WiFi directly. No proprietary protocol, no $599 gateways, no extra hardware to fail.</a:t>
            </a:r>
          </a:p>
        </p:txBody>
      </p:sp>
      <p:sp>
        <p:nvSpPr>
          <p:cNvPr id="9" name="TextBox 8"/>
          <p:cNvSpPr txBox="1"/>
          <p:nvPr/>
        </p:nvSpPr>
        <p:spPr>
          <a:xfrm>
            <a:off x="822960" y="4791456"/>
            <a:ext cx="5486400" cy="566928"/>
          </a:xfrm>
          <a:prstGeom prst="rect">
            <a:avLst/>
          </a:prstGeom>
          <a:noFill/>
        </p:spPr>
        <p:txBody>
          <a:bodyPr wrap="square" anchor="t" lIns="0" rIns="0" tIns="0" bIns="0">
            <a:spAutoFit/>
          </a:bodyPr>
          <a:lstStyle/>
          <a:p>
            <a:pPr algn="l">
              <a:lnSpc>
                <a:spcPct val="120000"/>
              </a:lnSpc>
              <a:spcBef>
                <a:spcPts val="0"/>
              </a:spcBef>
              <a:spcAft>
                <a:spcPts val="0"/>
              </a:spcAft>
            </a:pPr>
            <a:r>
              <a:rPr sz="1600" b="1">
                <a:solidFill>
                  <a:srgbClr val="121E25"/>
                </a:solidFill>
                <a:latin typeface="Arial"/>
              </a:rPr>
              <a:t>Mains powered</a:t>
            </a:r>
          </a:p>
        </p:txBody>
      </p:sp>
      <p:sp>
        <p:nvSpPr>
          <p:cNvPr id="10" name="TextBox 9"/>
          <p:cNvSpPr txBox="1"/>
          <p:nvPr/>
        </p:nvSpPr>
        <p:spPr>
          <a:xfrm>
            <a:off x="822960" y="5358384"/>
            <a:ext cx="5394960" cy="685800"/>
          </a:xfrm>
          <a:prstGeom prst="rect">
            <a:avLst/>
          </a:prstGeom>
          <a:noFill/>
        </p:spPr>
        <p:txBody>
          <a:bodyPr wrap="square" anchor="t" lIns="0" rIns="0" tIns="0" bIns="0">
            <a:spAutoFit/>
          </a:bodyPr>
          <a:lstStyle/>
          <a:p>
            <a:pPr algn="l">
              <a:lnSpc>
                <a:spcPct val="135000"/>
              </a:lnSpc>
              <a:spcBef>
                <a:spcPts val="0"/>
              </a:spcBef>
              <a:spcAft>
                <a:spcPts val="0"/>
              </a:spcAft>
            </a:pPr>
            <a:r>
              <a:rPr sz="1250" b="0">
                <a:solidFill>
                  <a:srgbClr val="637782"/>
                </a:solidFill>
                <a:latin typeface="Arial"/>
              </a:rPr>
              <a:t>Freezers and server rooms both have power within a few feet. Nothing to charge, and no sensor going dark because a battery was missed.</a:t>
            </a:r>
          </a:p>
        </p:txBody>
      </p:sp>
      <p:sp>
        <p:nvSpPr>
          <p:cNvPr id="11" name="Rounded Rectangle 10"/>
          <p:cNvSpPr/>
          <p:nvPr/>
        </p:nvSpPr>
        <p:spPr>
          <a:xfrm>
            <a:off x="6812280" y="2148840"/>
            <a:ext cx="4526280" cy="3383280"/>
          </a:xfrm>
          <a:prstGeom prst="roundRect">
            <a:avLst>
              <a:gd name="adj" fmla="val 3000"/>
            </a:avLst>
          </a:prstGeom>
          <a:solidFill>
            <a:srgbClr val="F0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78040" y="2395728"/>
            <a:ext cx="3840480" cy="320040"/>
          </a:xfrm>
          <a:prstGeom prst="rect">
            <a:avLst/>
          </a:prstGeom>
          <a:noFill/>
        </p:spPr>
        <p:txBody>
          <a:bodyPr wrap="square" anchor="t" lIns="0" rIns="0" tIns="0" bIns="0">
            <a:spAutoFit/>
          </a:bodyPr>
          <a:lstStyle/>
          <a:p>
            <a:pPr algn="l">
              <a:lnSpc>
                <a:spcPct val="100000"/>
              </a:lnSpc>
              <a:spcBef>
                <a:spcPts val="0"/>
              </a:spcBef>
              <a:spcAft>
                <a:spcPts val="0"/>
              </a:spcAft>
            </a:pPr>
            <a:r>
              <a:rPr sz="1150" b="1">
                <a:solidFill>
                  <a:srgbClr val="C4622D"/>
                </a:solidFill>
                <a:latin typeface="Arial"/>
              </a:rPr>
              <a:t>WHY THEIRS NEEDS FOUR GATEWAYS</a:t>
            </a:r>
          </a:p>
        </p:txBody>
      </p:sp>
      <p:sp>
        <p:nvSpPr>
          <p:cNvPr id="13" name="TextBox 12"/>
          <p:cNvSpPr txBox="1"/>
          <p:nvPr/>
        </p:nvSpPr>
        <p:spPr>
          <a:xfrm>
            <a:off x="7178040" y="2816352"/>
            <a:ext cx="3840480" cy="2468880"/>
          </a:xfrm>
          <a:prstGeom prst="rect">
            <a:avLst/>
          </a:prstGeom>
          <a:noFill/>
        </p:spPr>
        <p:txBody>
          <a:bodyPr wrap="square" anchor="t" lIns="0" rIns="0" tIns="0" bIns="0">
            <a:spAutoFit/>
          </a:bodyPr>
          <a:lstStyle/>
          <a:p>
            <a:pPr algn="l">
              <a:lnSpc>
                <a:spcPct val="135000"/>
              </a:lnSpc>
              <a:spcBef>
                <a:spcPts val="0"/>
              </a:spcBef>
              <a:spcAft>
                <a:spcPts val="0"/>
              </a:spcAft>
            </a:pPr>
            <a:r>
              <a:rPr sz="1350" b="0">
                <a:solidFill>
                  <a:srgbClr val="121E25"/>
                </a:solidFill>
                <a:latin typeface="Arial"/>
              </a:rPr>
              <a:t>A wireless sensor sitting inside a metal freezer has a hard radio problem.</a:t>
            </a:r>
          </a:p>
          <a:p>
            <a:pPr algn="l">
              <a:lnSpc>
                <a:spcPct val="135000"/>
              </a:lnSpc>
              <a:spcBef>
                <a:spcPts val="1000"/>
              </a:spcBef>
              <a:spcAft>
                <a:spcPts val="0"/>
              </a:spcAft>
            </a:pPr>
            <a:r>
              <a:rPr sz="1250" b="0">
                <a:solidFill>
                  <a:srgbClr val="637782"/>
                </a:solidFill>
                <a:latin typeface="Arial"/>
              </a:rPr>
              <a:t>That's the problem their proprietary protocol and gateways exist to solve. Putting the electronics outside and running only the probe through the seal avoids the problem instead of paying to work around it.</a:t>
            </a:r>
          </a:p>
          <a:p>
            <a:pPr algn="l">
              <a:lnSpc>
                <a:spcPct val="135000"/>
              </a:lnSpc>
              <a:spcBef>
                <a:spcPts val="1000"/>
              </a:spcBef>
              <a:spcAft>
                <a:spcPts val="0"/>
              </a:spcAft>
            </a:pPr>
            <a:r>
              <a:rPr sz="1250" b="1">
                <a:solidFill>
                  <a:srgbClr val="121E25"/>
                </a:solidFill>
                <a:latin typeface="Arial"/>
              </a:rPr>
              <a:t>Same reason mains power is straightforward: the unit is never inside the cold.</a:t>
            </a:r>
          </a:p>
        </p:txBody>
      </p:sp>
      <p:sp>
        <p:nvSpPr>
          <p:cNvPr id="14" name="TextBox 13"/>
          <p:cNvSpPr txBox="1"/>
          <p:nvPr/>
        </p:nvSpPr>
        <p:spPr>
          <a:xfrm>
            <a:off x="822960" y="6199632"/>
            <a:ext cx="10545775" cy="292608"/>
          </a:xfrm>
          <a:prstGeom prst="rect">
            <a:avLst/>
          </a:prstGeom>
          <a:noFill/>
        </p:spPr>
        <p:txBody>
          <a:bodyPr wrap="square" anchor="t" lIns="0" rIns="0" tIns="0" bIns="0">
            <a:spAutoFit/>
          </a:bodyPr>
          <a:lstStyle/>
          <a:p>
            <a:pPr algn="l">
              <a:lnSpc>
                <a:spcPct val="100000"/>
              </a:lnSpc>
              <a:spcBef>
                <a:spcPts val="0"/>
              </a:spcBef>
              <a:spcAft>
                <a:spcPts val="0"/>
              </a:spcAft>
            </a:pPr>
            <a:r>
              <a:rPr sz="1050" b="0">
                <a:solidFill>
                  <a:srgbClr val="9EAFB7"/>
                </a:solidFill>
                <a:latin typeface="Arial"/>
              </a:rPr>
              <a:t>Same hardware for warehouse freezers and server rooms — only the temperature limits differ.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07</a:t>
            </a:r>
          </a:p>
          <a:p>
            <a:pPr algn="l">
              <a:lnSpc>
                <a:spcPct val="100000"/>
              </a:lnSpc>
              <a:spcBef>
                <a:spcPts val="0"/>
              </a:spcBef>
              <a:spcAft>
                <a:spcPts val="0"/>
              </a:spcAft>
            </a:pPr>
            <a:r>
              <a:rPr sz="1200" b="0">
                <a:solidFill>
                  <a:srgbClr val="637782"/>
                </a:solidFill>
                <a:latin typeface="Arial"/>
              </a:rPr>
              <a:t>   OPEN ITEMS</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121E25"/>
                </a:solidFill>
                <a:latin typeface="Georgia"/>
              </a:rPr>
              <a:t>What I still have to solve</a:t>
            </a:r>
          </a:p>
        </p:txBody>
      </p:sp>
      <p:sp>
        <p:nvSpPr>
          <p:cNvPr id="5" name="TextBox 4"/>
          <p:cNvSpPr txBox="1"/>
          <p:nvPr/>
        </p:nvSpPr>
        <p:spPr>
          <a:xfrm>
            <a:off x="822960" y="2212848"/>
            <a:ext cx="10424160" cy="292608"/>
          </a:xfrm>
          <a:prstGeom prst="rect">
            <a:avLst/>
          </a:prstGeom>
          <a:noFill/>
        </p:spPr>
        <p:txBody>
          <a:bodyPr wrap="square" anchor="t" lIns="0" rIns="0" tIns="0" bIns="0">
            <a:spAutoFit/>
          </a:bodyPr>
          <a:lstStyle/>
          <a:p>
            <a:pPr algn="l">
              <a:lnSpc>
                <a:spcPct val="100000"/>
              </a:lnSpc>
              <a:spcBef>
                <a:spcPts val="0"/>
              </a:spcBef>
              <a:spcAft>
                <a:spcPts val="0"/>
              </a:spcAft>
            </a:pPr>
            <a:r>
              <a:rPr sz="1600" b="1">
                <a:solidFill>
                  <a:srgbClr val="121E25"/>
                </a:solidFill>
                <a:latin typeface="Arial"/>
              </a:rPr>
              <a:t>The probe isn't accurate enough for frozen</a:t>
            </a:r>
          </a:p>
        </p:txBody>
      </p:sp>
      <p:sp>
        <p:nvSpPr>
          <p:cNvPr id="6" name="TextBox 5"/>
          <p:cNvSpPr txBox="1"/>
          <p:nvPr/>
        </p:nvSpPr>
        <p:spPr>
          <a:xfrm>
            <a:off x="822960" y="2560320"/>
            <a:ext cx="10241280" cy="566928"/>
          </a:xfrm>
          <a:prstGeom prst="rect">
            <a:avLst/>
          </a:prstGeom>
          <a:noFill/>
        </p:spPr>
        <p:txBody>
          <a:bodyPr wrap="square" anchor="t" lIns="0" rIns="0" tIns="0" bIns="0">
            <a:spAutoFit/>
          </a:bodyPr>
          <a:lstStyle/>
          <a:p>
            <a:pPr algn="l">
              <a:lnSpc>
                <a:spcPct val="135000"/>
              </a:lnSpc>
              <a:spcBef>
                <a:spcPts val="0"/>
              </a:spcBef>
              <a:spcAft>
                <a:spcPts val="0"/>
              </a:spcAft>
            </a:pPr>
            <a:r>
              <a:rPr sz="1250" b="0">
                <a:solidFill>
                  <a:srgbClr val="637782"/>
                </a:solidFill>
                <a:latin typeface="Arial"/>
              </a:rPr>
              <a:t>The current sensor is rated ±0.9°F only above 14°F. For freezers I move to an RTD probe — ±0.27°F across the whole range, $8–15 a unit. Poultry cold storage at 27–34°F is inside the accurate band, so those points are fine as they are.</a:t>
            </a:r>
          </a:p>
        </p:txBody>
      </p:sp>
      <p:sp>
        <p:nvSpPr>
          <p:cNvPr id="7" name="Rectangle 6"/>
          <p:cNvSpPr/>
          <p:nvPr/>
        </p:nvSpPr>
        <p:spPr>
          <a:xfrm>
            <a:off x="822960" y="3255263"/>
            <a:ext cx="10545775" cy="13716"/>
          </a:xfrm>
          <a:prstGeom prst="rect">
            <a:avLst/>
          </a:prstGeom>
          <a:solidFill>
            <a:srgbClr val="DD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511296"/>
            <a:ext cx="10424160" cy="292608"/>
          </a:xfrm>
          <a:prstGeom prst="rect">
            <a:avLst/>
          </a:prstGeom>
          <a:noFill/>
        </p:spPr>
        <p:txBody>
          <a:bodyPr wrap="square" anchor="t" lIns="0" rIns="0" tIns="0" bIns="0">
            <a:spAutoFit/>
          </a:bodyPr>
          <a:lstStyle/>
          <a:p>
            <a:pPr algn="l">
              <a:lnSpc>
                <a:spcPct val="100000"/>
              </a:lnSpc>
              <a:spcBef>
                <a:spcPts val="0"/>
              </a:spcBef>
              <a:spcAft>
                <a:spcPts val="0"/>
              </a:spcAft>
            </a:pPr>
            <a:r>
              <a:rPr sz="1600" b="1">
                <a:solidFill>
                  <a:srgbClr val="121E25"/>
                </a:solidFill>
                <a:latin typeface="Arial"/>
              </a:rPr>
              <a:t>Calibration has to be auditable</a:t>
            </a:r>
          </a:p>
        </p:txBody>
      </p:sp>
      <p:sp>
        <p:nvSpPr>
          <p:cNvPr id="9" name="TextBox 8"/>
          <p:cNvSpPr txBox="1"/>
          <p:nvPr/>
        </p:nvSpPr>
        <p:spPr>
          <a:xfrm>
            <a:off x="822960" y="3858768"/>
            <a:ext cx="10241280" cy="566928"/>
          </a:xfrm>
          <a:prstGeom prst="rect">
            <a:avLst/>
          </a:prstGeom>
          <a:noFill/>
        </p:spPr>
        <p:txBody>
          <a:bodyPr wrap="square" anchor="t" lIns="0" rIns="0" tIns="0" bIns="0">
            <a:spAutoFit/>
          </a:bodyPr>
          <a:lstStyle/>
          <a:p>
            <a:pPr algn="l">
              <a:lnSpc>
                <a:spcPct val="135000"/>
              </a:lnSpc>
              <a:spcBef>
                <a:spcPts val="0"/>
              </a:spcBef>
              <a:spcAft>
                <a:spcPts val="0"/>
              </a:spcAft>
            </a:pPr>
            <a:r>
              <a:rPr sz="1250" b="0">
                <a:solidFill>
                  <a:srgbClr val="637782"/>
                </a:solidFill>
                <a:latin typeface="Arial"/>
              </a:rPr>
              <a:t>One NIST-traceable reference thermometer, roughly $350, calibrates the whole fleet with documentation an auditor will accept. The quote charges $125 a sensor for a certificate that expires after 24 months — mine is bought once.</a:t>
            </a:r>
          </a:p>
        </p:txBody>
      </p:sp>
      <p:sp>
        <p:nvSpPr>
          <p:cNvPr id="10" name="Rectangle 9"/>
          <p:cNvSpPr/>
          <p:nvPr/>
        </p:nvSpPr>
        <p:spPr>
          <a:xfrm>
            <a:off x="822960" y="4553711"/>
            <a:ext cx="10545775" cy="13716"/>
          </a:xfrm>
          <a:prstGeom prst="rect">
            <a:avLst/>
          </a:prstGeom>
          <a:solidFill>
            <a:srgbClr val="DD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809744"/>
            <a:ext cx="10424160" cy="292608"/>
          </a:xfrm>
          <a:prstGeom prst="rect">
            <a:avLst/>
          </a:prstGeom>
          <a:noFill/>
        </p:spPr>
        <p:txBody>
          <a:bodyPr wrap="square" anchor="t" lIns="0" rIns="0" tIns="0" bIns="0">
            <a:spAutoFit/>
          </a:bodyPr>
          <a:lstStyle/>
          <a:p>
            <a:pPr algn="l">
              <a:lnSpc>
                <a:spcPct val="100000"/>
              </a:lnSpc>
              <a:spcBef>
                <a:spcPts val="0"/>
              </a:spcBef>
              <a:spcAft>
                <a:spcPts val="0"/>
              </a:spcAft>
            </a:pPr>
            <a:r>
              <a:rPr sz="1600" b="1">
                <a:solidFill>
                  <a:srgbClr val="121E25"/>
                </a:solidFill>
                <a:latin typeface="Arial"/>
              </a:rPr>
              <a:t>Security needs hardening before it carries real data</a:t>
            </a:r>
          </a:p>
        </p:txBody>
      </p:sp>
      <p:sp>
        <p:nvSpPr>
          <p:cNvPr id="12" name="TextBox 11"/>
          <p:cNvSpPr txBox="1"/>
          <p:nvPr/>
        </p:nvSpPr>
        <p:spPr>
          <a:xfrm>
            <a:off x="822960" y="5157216"/>
            <a:ext cx="10241280" cy="566928"/>
          </a:xfrm>
          <a:prstGeom prst="rect">
            <a:avLst/>
          </a:prstGeom>
          <a:noFill/>
        </p:spPr>
        <p:txBody>
          <a:bodyPr wrap="square" anchor="t" lIns="0" rIns="0" tIns="0" bIns="0">
            <a:spAutoFit/>
          </a:bodyPr>
          <a:lstStyle/>
          <a:p>
            <a:pPr algn="l">
              <a:lnSpc>
                <a:spcPct val="135000"/>
              </a:lnSpc>
              <a:spcBef>
                <a:spcPts val="0"/>
              </a:spcBef>
              <a:spcAft>
                <a:spcPts val="0"/>
              </a:spcAft>
            </a:pPr>
            <a:r>
              <a:rPr sz="1250" b="0">
                <a:solidFill>
                  <a:srgbClr val="637782"/>
                </a:solidFill>
                <a:latin typeface="Arial"/>
              </a:rPr>
              <a:t>The prototype runs on a trusted network. Production adds encrypted transport and per-device credentials. Known work, not a surprise.</a:t>
            </a:r>
          </a:p>
        </p:txBody>
      </p:sp>
      <p:sp>
        <p:nvSpPr>
          <p:cNvPr id="13" name="Rectangle 12"/>
          <p:cNvSpPr/>
          <p:nvPr/>
        </p:nvSpPr>
        <p:spPr>
          <a:xfrm>
            <a:off x="822960" y="5852159"/>
            <a:ext cx="10545775" cy="13716"/>
          </a:xfrm>
          <a:prstGeom prst="rect">
            <a:avLst/>
          </a:prstGeom>
          <a:solidFill>
            <a:srgbClr val="DD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6172200"/>
            <a:ext cx="10545775" cy="365760"/>
          </a:xfrm>
          <a:prstGeom prst="rect">
            <a:avLst/>
          </a:prstGeom>
          <a:noFill/>
        </p:spPr>
        <p:txBody>
          <a:bodyPr wrap="square" anchor="t" lIns="0" rIns="0" tIns="0" bIns="0">
            <a:spAutoFit/>
          </a:bodyPr>
          <a:lstStyle/>
          <a:p>
            <a:pPr algn="l">
              <a:lnSpc>
                <a:spcPct val="100000"/>
              </a:lnSpc>
              <a:spcBef>
                <a:spcPts val="0"/>
              </a:spcBef>
              <a:spcAft>
                <a:spcPts val="0"/>
              </a:spcAft>
            </a:pPr>
            <a:r>
              <a:rPr sz="1400" b="1">
                <a:solidFill>
                  <a:srgbClr val="2B8A9E"/>
                </a:solidFill>
                <a:latin typeface="Arial"/>
              </a:rPr>
              <a:t>I'd rather raise these than have you find them. None of them change the numbers.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B22"/>
        </a:solidFill>
        <a:effectLst/>
      </p:bgPr>
    </p:bg>
    <p:spTree>
      <p:nvGrpSpPr>
        <p:cNvPr id="1" name=""/>
        <p:cNvGrpSpPr/>
        <p:nvPr/>
      </p:nvGrpSpPr>
      <p:grpSpPr/>
      <p:sp>
        <p:nvSpPr>
          <p:cNvPr id="2" name="Rectangle 1"/>
          <p:cNvSpPr/>
          <p:nvPr/>
        </p:nvSpPr>
        <p:spPr>
          <a:xfrm>
            <a:off x="822960" y="658368"/>
            <a:ext cx="50292" cy="384048"/>
          </a:xfrm>
          <a:prstGeom prst="rect">
            <a:avLst/>
          </a:prstGeom>
          <a:solidFill>
            <a:srgbClr val="2B8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24128" y="658368"/>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1">
                <a:solidFill>
                  <a:srgbClr val="2B8A9E"/>
                </a:solidFill>
                <a:latin typeface="Arial"/>
              </a:rPr>
              <a:t>08</a:t>
            </a:r>
          </a:p>
          <a:p>
            <a:pPr algn="l">
              <a:lnSpc>
                <a:spcPct val="100000"/>
              </a:lnSpc>
              <a:spcBef>
                <a:spcPts val="0"/>
              </a:spcBef>
              <a:spcAft>
                <a:spcPts val="0"/>
              </a:spcAft>
            </a:pPr>
            <a:r>
              <a:rPr sz="1200" b="0">
                <a:solidFill>
                  <a:srgbClr val="9EAFB7"/>
                </a:solidFill>
                <a:latin typeface="Arial"/>
              </a:rPr>
              <a:t>   NEXT</a:t>
            </a:r>
          </a:p>
        </p:txBody>
      </p:sp>
      <p:sp>
        <p:nvSpPr>
          <p:cNvPr id="4" name="TextBox 3"/>
          <p:cNvSpPr txBox="1"/>
          <p:nvPr/>
        </p:nvSpPr>
        <p:spPr>
          <a:xfrm>
            <a:off x="822960" y="1170432"/>
            <a:ext cx="10545775" cy="868680"/>
          </a:xfrm>
          <a:prstGeom prst="rect">
            <a:avLst/>
          </a:prstGeom>
          <a:noFill/>
        </p:spPr>
        <p:txBody>
          <a:bodyPr wrap="square" anchor="t" lIns="0" rIns="0" tIns="0" bIns="0">
            <a:spAutoFit/>
          </a:bodyPr>
          <a:lstStyle/>
          <a:p>
            <a:pPr algn="l">
              <a:lnSpc>
                <a:spcPct val="105000"/>
              </a:lnSpc>
              <a:spcBef>
                <a:spcPts val="0"/>
              </a:spcBef>
              <a:spcAft>
                <a:spcPts val="0"/>
              </a:spcAft>
            </a:pPr>
            <a:r>
              <a:rPr sz="3300" b="0">
                <a:solidFill>
                  <a:srgbClr val="FAFBFC"/>
                </a:solidFill>
                <a:latin typeface="Georgia"/>
              </a:rPr>
              <a:t>Let me run one site for 30 days</a:t>
            </a:r>
          </a:p>
        </p:txBody>
      </p:sp>
      <p:sp>
        <p:nvSpPr>
          <p:cNvPr id="5" name="TextBox 4"/>
          <p:cNvSpPr txBox="1"/>
          <p:nvPr/>
        </p:nvSpPr>
        <p:spPr>
          <a:xfrm>
            <a:off x="822960" y="2377440"/>
            <a:ext cx="457200" cy="457200"/>
          </a:xfrm>
          <a:prstGeom prst="rect">
            <a:avLst/>
          </a:prstGeom>
          <a:noFill/>
        </p:spPr>
        <p:txBody>
          <a:bodyPr wrap="square" anchor="t" lIns="0" rIns="0" tIns="0" bIns="0">
            <a:spAutoFit/>
          </a:bodyPr>
          <a:lstStyle/>
          <a:p>
            <a:pPr algn="l">
              <a:lnSpc>
                <a:spcPct val="100000"/>
              </a:lnSpc>
              <a:spcBef>
                <a:spcPts val="0"/>
              </a:spcBef>
              <a:spcAft>
                <a:spcPts val="0"/>
              </a:spcAft>
            </a:pPr>
            <a:r>
              <a:rPr sz="2200" b="0">
                <a:solidFill>
                  <a:srgbClr val="7FC4D2"/>
                </a:solidFill>
                <a:latin typeface="Georgia"/>
              </a:rPr>
              <a:t>1</a:t>
            </a:r>
          </a:p>
        </p:txBody>
      </p:sp>
      <p:sp>
        <p:nvSpPr>
          <p:cNvPr id="6" name="TextBox 5"/>
          <p:cNvSpPr txBox="1"/>
          <p:nvPr/>
        </p:nvSpPr>
        <p:spPr>
          <a:xfrm>
            <a:off x="1417320" y="2404872"/>
            <a:ext cx="4846320" cy="457200"/>
          </a:xfrm>
          <a:prstGeom prst="rect">
            <a:avLst/>
          </a:prstGeom>
          <a:noFill/>
        </p:spPr>
        <p:txBody>
          <a:bodyPr wrap="square" anchor="t" lIns="0" rIns="0" tIns="0" bIns="0">
            <a:spAutoFit/>
          </a:bodyPr>
          <a:lstStyle/>
          <a:p>
            <a:pPr algn="l">
              <a:lnSpc>
                <a:spcPct val="125000"/>
              </a:lnSpc>
              <a:spcBef>
                <a:spcPts val="0"/>
              </a:spcBef>
              <a:spcAft>
                <a:spcPts val="0"/>
              </a:spcAft>
            </a:pPr>
            <a:r>
              <a:rPr sz="1600" b="1">
                <a:solidFill>
                  <a:srgbClr val="FAFBFC"/>
                </a:solidFill>
                <a:latin typeface="Arial"/>
              </a:rPr>
              <a:t>Install alongside what's already there</a:t>
            </a:r>
          </a:p>
        </p:txBody>
      </p:sp>
      <p:sp>
        <p:nvSpPr>
          <p:cNvPr id="7" name="TextBox 6"/>
          <p:cNvSpPr txBox="1"/>
          <p:nvPr/>
        </p:nvSpPr>
        <p:spPr>
          <a:xfrm>
            <a:off x="6583680" y="2423160"/>
            <a:ext cx="4754880" cy="68580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9EB2BA"/>
                </a:solidFill>
                <a:latin typeface="Arial"/>
              </a:rPr>
              <a:t>Both systems running on the same freezers. Nothing gets turned off.</a:t>
            </a:r>
          </a:p>
        </p:txBody>
      </p:sp>
      <p:sp>
        <p:nvSpPr>
          <p:cNvPr id="8" name="TextBox 7"/>
          <p:cNvSpPr txBox="1"/>
          <p:nvPr/>
        </p:nvSpPr>
        <p:spPr>
          <a:xfrm>
            <a:off x="822960" y="3456432"/>
            <a:ext cx="457200" cy="457200"/>
          </a:xfrm>
          <a:prstGeom prst="rect">
            <a:avLst/>
          </a:prstGeom>
          <a:noFill/>
        </p:spPr>
        <p:txBody>
          <a:bodyPr wrap="square" anchor="t" lIns="0" rIns="0" tIns="0" bIns="0">
            <a:spAutoFit/>
          </a:bodyPr>
          <a:lstStyle/>
          <a:p>
            <a:pPr algn="l">
              <a:lnSpc>
                <a:spcPct val="100000"/>
              </a:lnSpc>
              <a:spcBef>
                <a:spcPts val="0"/>
              </a:spcBef>
              <a:spcAft>
                <a:spcPts val="0"/>
              </a:spcAft>
            </a:pPr>
            <a:r>
              <a:rPr sz="2200" b="0">
                <a:solidFill>
                  <a:srgbClr val="7FC4D2"/>
                </a:solidFill>
                <a:latin typeface="Georgia"/>
              </a:rPr>
              <a:t>2</a:t>
            </a:r>
          </a:p>
        </p:txBody>
      </p:sp>
      <p:sp>
        <p:nvSpPr>
          <p:cNvPr id="9" name="TextBox 8"/>
          <p:cNvSpPr txBox="1"/>
          <p:nvPr/>
        </p:nvSpPr>
        <p:spPr>
          <a:xfrm>
            <a:off x="1417320" y="3483864"/>
            <a:ext cx="4846320" cy="457200"/>
          </a:xfrm>
          <a:prstGeom prst="rect">
            <a:avLst/>
          </a:prstGeom>
          <a:noFill/>
        </p:spPr>
        <p:txBody>
          <a:bodyPr wrap="square" anchor="t" lIns="0" rIns="0" tIns="0" bIns="0">
            <a:spAutoFit/>
          </a:bodyPr>
          <a:lstStyle/>
          <a:p>
            <a:pPr algn="l">
              <a:lnSpc>
                <a:spcPct val="125000"/>
              </a:lnSpc>
              <a:spcBef>
                <a:spcPts val="0"/>
              </a:spcBef>
              <a:spcAft>
                <a:spcPts val="0"/>
              </a:spcAft>
            </a:pPr>
            <a:r>
              <a:rPr sz="1600" b="1">
                <a:solidFill>
                  <a:srgbClr val="FAFBFC"/>
                </a:solidFill>
                <a:latin typeface="Arial"/>
              </a:rPr>
              <a:t>Compare the data at the end of the month</a:t>
            </a:r>
          </a:p>
        </p:txBody>
      </p:sp>
      <p:sp>
        <p:nvSpPr>
          <p:cNvPr id="10" name="TextBox 9"/>
          <p:cNvSpPr txBox="1"/>
          <p:nvPr/>
        </p:nvSpPr>
        <p:spPr>
          <a:xfrm>
            <a:off x="6583680" y="3502152"/>
            <a:ext cx="4754880" cy="68580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9EB2BA"/>
                </a:solidFill>
                <a:latin typeface="Arial"/>
              </a:rPr>
              <a:t>Same equipment, same conditions. If mine doesn't hold up, we've lost a few hundred dollars.</a:t>
            </a:r>
          </a:p>
        </p:txBody>
      </p:sp>
      <p:sp>
        <p:nvSpPr>
          <p:cNvPr id="11" name="TextBox 10"/>
          <p:cNvSpPr txBox="1"/>
          <p:nvPr/>
        </p:nvSpPr>
        <p:spPr>
          <a:xfrm>
            <a:off x="822960" y="4535424"/>
            <a:ext cx="457200" cy="457200"/>
          </a:xfrm>
          <a:prstGeom prst="rect">
            <a:avLst/>
          </a:prstGeom>
          <a:noFill/>
        </p:spPr>
        <p:txBody>
          <a:bodyPr wrap="square" anchor="t" lIns="0" rIns="0" tIns="0" bIns="0">
            <a:spAutoFit/>
          </a:bodyPr>
          <a:lstStyle/>
          <a:p>
            <a:pPr algn="l">
              <a:lnSpc>
                <a:spcPct val="100000"/>
              </a:lnSpc>
              <a:spcBef>
                <a:spcPts val="0"/>
              </a:spcBef>
              <a:spcAft>
                <a:spcPts val="0"/>
              </a:spcAft>
            </a:pPr>
            <a:r>
              <a:rPr sz="2200" b="0">
                <a:solidFill>
                  <a:srgbClr val="7FC4D2"/>
                </a:solidFill>
                <a:latin typeface="Georgia"/>
              </a:rPr>
              <a:t>3</a:t>
            </a:r>
          </a:p>
        </p:txBody>
      </p:sp>
      <p:sp>
        <p:nvSpPr>
          <p:cNvPr id="12" name="TextBox 11"/>
          <p:cNvSpPr txBox="1"/>
          <p:nvPr/>
        </p:nvSpPr>
        <p:spPr>
          <a:xfrm>
            <a:off x="1417320" y="4562856"/>
            <a:ext cx="4846320" cy="457200"/>
          </a:xfrm>
          <a:prstGeom prst="rect">
            <a:avLst/>
          </a:prstGeom>
          <a:noFill/>
        </p:spPr>
        <p:txBody>
          <a:bodyPr wrap="square" anchor="t" lIns="0" rIns="0" tIns="0" bIns="0">
            <a:spAutoFit/>
          </a:bodyPr>
          <a:lstStyle/>
          <a:p>
            <a:pPr algn="l">
              <a:lnSpc>
                <a:spcPct val="125000"/>
              </a:lnSpc>
              <a:spcBef>
                <a:spcPts val="0"/>
              </a:spcBef>
              <a:spcAft>
                <a:spcPts val="0"/>
              </a:spcAft>
            </a:pPr>
            <a:r>
              <a:rPr sz="1600" b="1">
                <a:solidFill>
                  <a:srgbClr val="FAFBFC"/>
                </a:solidFill>
                <a:latin typeface="Arial"/>
              </a:rPr>
              <a:t>Move sites across one at a time</a:t>
            </a:r>
          </a:p>
        </p:txBody>
      </p:sp>
      <p:sp>
        <p:nvSpPr>
          <p:cNvPr id="13" name="TextBox 12"/>
          <p:cNvSpPr txBox="1"/>
          <p:nvPr/>
        </p:nvSpPr>
        <p:spPr>
          <a:xfrm>
            <a:off x="6583680" y="4581144"/>
            <a:ext cx="4754880" cy="685800"/>
          </a:xfrm>
          <a:prstGeom prst="rect">
            <a:avLst/>
          </a:prstGeom>
          <a:noFill/>
        </p:spPr>
        <p:txBody>
          <a:bodyPr wrap="square" anchor="t" lIns="0" rIns="0" tIns="0" bIns="0">
            <a:spAutoFit/>
          </a:bodyPr>
          <a:lstStyle/>
          <a:p>
            <a:pPr algn="l">
              <a:lnSpc>
                <a:spcPct val="135000"/>
              </a:lnSpc>
              <a:spcBef>
                <a:spcPts val="0"/>
              </a:spcBef>
              <a:spcAft>
                <a:spcPts val="0"/>
              </a:spcAft>
            </a:pPr>
            <a:r>
              <a:rPr sz="1300" b="0">
                <a:solidFill>
                  <a:srgbClr val="9EB2BA"/>
                </a:solidFill>
                <a:latin typeface="Arial"/>
              </a:rPr>
              <a:t>Each subscription cancels only after its replacement has proven itself.</a:t>
            </a:r>
          </a:p>
        </p:txBody>
      </p:sp>
      <p:sp>
        <p:nvSpPr>
          <p:cNvPr id="14" name="Rectangle 13"/>
          <p:cNvSpPr/>
          <p:nvPr/>
        </p:nvSpPr>
        <p:spPr>
          <a:xfrm>
            <a:off x="822960" y="5623560"/>
            <a:ext cx="10545775" cy="13716"/>
          </a:xfrm>
          <a:prstGeom prst="rect">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897880"/>
            <a:ext cx="10545775" cy="457200"/>
          </a:xfrm>
          <a:prstGeom prst="rect">
            <a:avLst/>
          </a:prstGeom>
          <a:noFill/>
        </p:spPr>
        <p:txBody>
          <a:bodyPr wrap="square" anchor="t" lIns="0" rIns="0" tIns="0" bIns="0">
            <a:spAutoFit/>
          </a:bodyPr>
          <a:lstStyle/>
          <a:p>
            <a:pPr algn="l">
              <a:lnSpc>
                <a:spcPct val="100000"/>
              </a:lnSpc>
              <a:spcBef>
                <a:spcPts val="0"/>
              </a:spcBef>
              <a:spcAft>
                <a:spcPts val="0"/>
              </a:spcAft>
            </a:pPr>
            <a:r>
              <a:rPr sz="1900" b="0">
                <a:solidFill>
                  <a:srgbClr val="FAFBFC"/>
                </a:solidFill>
                <a:latin typeface="Georgia"/>
              </a:rPr>
              <a:t>One site, one month, a few hundred dollars of hardware.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